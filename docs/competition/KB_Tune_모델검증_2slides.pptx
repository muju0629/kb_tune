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df0822ef9e4a5e" /><Relationship Type="http://schemas.openxmlformats.org/officeDocument/2006/relationships/extended-properties" Target="/docProps/app.xml" Id="R9a9d4bfb1b24432f" /><Relationship Type="http://schemas.openxmlformats.org/officeDocument/2006/relationships/officeDocument" Target="/ppt/presentation.xml" Id="Rd726c32dd23940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8de84852264579"/>
  </p:sldMasterIdLst>
  <p:notesMasterIdLst>
    <p:notesMasterId xmlns:r="http://schemas.openxmlformats.org/officeDocument/2006/relationships" r:id="Rec1c0c21ca7b417d"/>
  </p:notesMasterIdLst>
  <p:sldIdLst>
    <p:sldId xmlns:r="http://schemas.openxmlformats.org/officeDocument/2006/relationships" id="256" r:id="Rc94ed4bc7e06495a"/>
    <p:sldId xmlns:r="http://schemas.openxmlformats.org/officeDocument/2006/relationships" id="257" r:id="Rf4bd994bb2b64d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4401fd1676417e" /><Relationship Type="http://schemas.openxmlformats.org/officeDocument/2006/relationships/slideMaster" Target="/ppt/slideMasters/slideMaster1.xml" Id="R4b8de84852264579" /><Relationship Type="http://schemas.openxmlformats.org/officeDocument/2006/relationships/notesMaster" Target="/ppt/notesMasters/notesMaster1.xml" Id="Rec1c0c21ca7b417d" /><Relationship Type="http://schemas.openxmlformats.org/officeDocument/2006/relationships/presProps" Target="/ppt/presProps.xml" Id="R45a777f662d94fea" /><Relationship Type="http://schemas.openxmlformats.org/officeDocument/2006/relationships/viewProps" Target="/ppt/viewProps.xml" Id="Ra355e89a074d459e" /><Relationship Type="http://schemas.openxmlformats.org/officeDocument/2006/relationships/tableStyles" Target="/ppt/tableStyles.xml" Id="Rf7639f387f7c421a" /><Relationship Type="http://schemas.openxmlformats.org/officeDocument/2006/relationships/slide" Target="/ppt/slides/slide1.xml" Id="Rc94ed4bc7e06495a" /><Relationship Type="http://schemas.openxmlformats.org/officeDocument/2006/relationships/slide" Target="/ppt/slides/slide2.xml" Id="Rf4bd994bb2b64d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d34fc087d545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e10cd8022344e6" /><Relationship Type="http://schemas.openxmlformats.org/officeDocument/2006/relationships/notesMaster" Target="/ppt/notesMasters/notesMaster1.xml" Id="R792ffaba21484b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e8d7abb49a40d0" /><Relationship Type="http://schemas.openxmlformats.org/officeDocument/2006/relationships/notesMaster" Target="/ppt/notesMasters/notesMaster1.xml" Id="R2f64fd9fb0284d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네 모델 모두 발생 여부 + 조건부 금액의 동일한 2단계 구조와 동일 피드백을 사용했습니다.</a:t>
            </a:r>
          </a:p>
          <a:p xmlns:a="http://schemas.openxmlformats.org/drawingml/2006/main">
            <a:r>
              <a:t>선택 근거: 8주차 Active WAPE는 LightGBM 27.06%, Random Forest 27.19%, 최근 평균 28.59%, Ridge 28.75%였습니다. LightGBM의 우위는 근소하므로 압도적 우위로 표현하지 않습니다.</a:t>
            </a:r>
          </a:p>
          <a:p xmlns:a="http://schemas.openxmlformats.org/drawingml/2006/main">
            <a:r>
              <a:t>데이터 한계: 카드 결제만 포함한 합성 실험이며, 로컬 공개 데이터는 금액 사전분포와 스트레스 테스트용입니다.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/Users/muju/Developer/KB_Tune/tools/forecast_bench/results/active_feedback_8week/results.md</a:t>
            </a:r>
          </a:p>
          <a:p xmlns:a="http://schemas.openxmlformats.org/drawingml/2006/main">
            <a:r>
              <a:t>- /Users/muju/Developer/KB_Tune/tools/forecast_bench/results/active_feedback_8week/summary.csv</a:t>
            </a:r>
          </a:p>
          <a:p xmlns:a="http://schemas.openxmlformats.org/drawingml/2006/main">
            <a:r>
              <a:t>- /Users/muju/Developer/KB_Tune/docs/tune-feedback-contract.md</a:t>
            </a:r>
          </a:p>
          <a:p xmlns:a="http://schemas.openxmlformats.org/drawingml/2006/main">
            <a:r>
              <a:t>- /Users/muju/Developer/KB_Tune/tools/forecast_bench/results/local_spend_profile/results.md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즉시 보정 효과는 전체 WAPE에서 확인됐지만, 질문하지 않은 카테고리로의 일반화와 장기 개인화는 확인되지 않았습니다.</a:t>
            </a:r>
          </a:p>
          <a:p xmlns:a="http://schemas.openxmlformats.org/drawingml/2006/main">
            <a:r>
              <a:t>결과: 8주차 LightGBM Active는 Passive보다 총액 WAPE가 7.84%p 개선됐고, 사용자 부트스트랩 95% CI는 2.72~13.01%p였습니다.</a:t>
            </a:r>
          </a:p>
          <a:p xmlns:a="http://schemas.openxmlformats.org/drawingml/2006/main">
            <a:r>
              <a:t>실패 공개: Personal Bayes 재실험은 Active보다 2.29%p 악화했습니다. 따라서 앱의 기본 경로가 아니라 Shadow에서만 비교합니다.</a:t>
            </a:r>
          </a:p>
          <a:p xmlns:a="http://schemas.openxmlformats.org/drawingml/2006/main">
            <a:r>
              <a:t>출시 게이트: 미질문 WAPE 개선 CI 하한 &gt; 0, 전체 WAPE 비열화 없음, 구간 커버리지 하락 5%p 이내를 모두 통과해야 장기 개인화를 노출합니다.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/Users/muju/Developer/KB_Tune/tools/forecast_bench/results/active_feedback_8week/results.md</a:t>
            </a:r>
          </a:p>
          <a:p xmlns:a="http://schemas.openxmlformats.org/drawingml/2006/main">
            <a:r>
              <a:t>- /Users/muju/Developer/KB_Tune/tools/forecast_bench/results/active_feedback_8week/summary.csv</a:t>
            </a:r>
          </a:p>
          <a:p xmlns:a="http://schemas.openxmlformats.org/drawingml/2006/main">
            <a:r>
              <a:t>- /Users/muju/Developer/KB_Tune/tools/forecast_bench/results/personal_bayes_feedback_8week/results.md</a:t>
            </a:r>
          </a:p>
          <a:p xmlns:a="http://schemas.openxmlformats.org/drawingml/2006/main">
            <a:r>
              <a:t>- /Users/muju/Developer/KB_Tune/docs/tune-8week-pilot-protocol.md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f525d6036440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2b58879eb947c3" /><Relationship Type="http://schemas.openxmlformats.org/officeDocument/2006/relationships/slideLayout" Target="/ppt/slideLayouts/slideLayout1.xml" Id="Rb179bb16a9f64ea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79bb16a9f64ea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fdc4300f0465d" /><Relationship Type="http://schemas.openxmlformats.org/officeDocument/2006/relationships/chart" Target="/ppt/slides/charts/chart1.xml" Id="R1e99b5d961f649fd" /><Relationship Type="http://schemas.openxmlformats.org/officeDocument/2006/relationships/notesSlide" Target="/ppt/notesSlides/notesSlide1.xml" Id="R5acf6585b82041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3ca7ab5a14d6e" /><Relationship Type="http://schemas.openxmlformats.org/officeDocument/2006/relationships/chart" Target="/ppt/slides/charts/chart2.xml" Id="Re2a04e4c0ee7445a" /><Relationship Type="http://schemas.openxmlformats.org/officeDocument/2006/relationships/notesSlide" Target="/ppt/notesSlides/notesSlide2.xml" Id="Rde98913b64c3447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Active WAPE</c:v>
          </c:tx>
          <c:spPr>
            <a:solidFill xmlns:a="http://schemas.openxmlformats.org/drawingml/2006/main">
              <a:srgbClr val="D8D5C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8D5C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8D5C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B0A4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FC000"/>
              </a:solidFill>
            </c:spPr>
          </c:dPt>
          <c:cat>
            <c:strLit>
              <c:ptCount val="4"/>
              <c:pt idx="0">
                <c:v>Ridge</c:v>
              </c:pt>
              <c:pt idx="1">
                <c:v>최근 평균</c:v>
              </c:pt>
              <c:pt idx="2">
                <c:v>Random Forest</c:v>
              </c:pt>
              <c:pt idx="3">
                <c:v>LightGBM</c:v>
              </c:pt>
            </c:strLit>
          </c:cat>
          <c:val>
            <c:numLit>
              <c:formatCode>0.0"%"</c:formatCode>
              <c:ptCount val="4"/>
              <c:pt idx="0">
                <c:v>28.75</c:v>
              </c:pt>
              <c:pt idx="1">
                <c:v>28.59</c:v>
              </c:pt>
              <c:pt idx="2">
                <c:v>27.19</c:v>
              </c:pt>
              <c:pt idx="3">
                <c:v>27.06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524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D4A4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Passive</c:v>
          </c:tx>
          <c:spPr>
            <a:ln xmlns:a="http://schemas.openxmlformats.org/drawingml/2006/main" w="28575">
              <a:solidFill>
                <a:srgbClr val="B5B0A4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8주</c:v>
              </c:pt>
            </c:strLit>
          </c:cat>
          <c:val>
            <c:numLit>
              <c:formatCode>0"%"</c:formatCode>
              <c:ptCount val="8"/>
              <c:pt idx="0">
                <c:v>62.08</c:v>
              </c:pt>
              <c:pt idx="1">
                <c:v>60.05</c:v>
              </c:pt>
              <c:pt idx="2">
                <c:v>59.27</c:v>
              </c:pt>
              <c:pt idx="3">
                <c:v>60.27</c:v>
              </c:pt>
              <c:pt idx="4">
                <c:v>61.98</c:v>
              </c:pt>
              <c:pt idx="5">
                <c:v>61.83</c:v>
              </c:pt>
              <c:pt idx="6">
                <c:v>62.66</c:v>
              </c:pt>
              <c:pt idx="7">
                <c:v>65.11</c:v>
              </c:pt>
            </c:numLit>
          </c:val>
        </c:ser>
        <c:ser>
          <c:idx val="1"/>
          <c:order val="1"/>
          <c:tx>
            <c:v>Active</c:v>
          </c:tx>
          <c:spPr>
            <a:ln xmlns:a="http://schemas.openxmlformats.org/drawingml/2006/main" w="38100">
              <a:solidFill>
                <a:srgbClr val="FFC000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8주</c:v>
              </c:pt>
            </c:strLit>
          </c:cat>
          <c:val>
            <c:numLit>
              <c:formatCode>0"%"</c:formatCode>
              <c:ptCount val="8"/>
              <c:pt idx="0">
                <c:v>68.86</c:v>
              </c:pt>
              <c:pt idx="1">
                <c:v>69.2</c:v>
              </c:pt>
              <c:pt idx="2">
                <c:v>73.27</c:v>
              </c:pt>
              <c:pt idx="3">
                <c:v>73.64</c:v>
              </c:pt>
              <c:pt idx="4">
                <c:v>75.42</c:v>
              </c:pt>
              <c:pt idx="5">
                <c:v>69.53</c:v>
              </c:pt>
              <c:pt idx="6">
                <c:v>71.75</c:v>
              </c:pt>
              <c:pt idx="7">
                <c:v>72.94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5C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77736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8"/>
          <c:min val="5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3DB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77736B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4D4A43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158F87-9A80-43BF-B1C0-27E068C3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455" y="6510528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B5B0A4"/>
                </a:solidFill>
                <a:latin typeface="KBFG Text Medium"/>
                <a:ea typeface="KBFG Text Medium"/>
                <a:cs typeface="KBFG Text Medium"/>
              </a:rPr>
              <a:t>01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3FE87B-2D15-443E-BFBA-31D102F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0624"/>
            <a:ext cx="1219169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800">
                <a:solidFill>
                  <a:srgbClr val="3F8A55"/>
                </a:solidFill>
                <a:latin typeface="KBFG Text Medium"/>
                <a:ea typeface="KBFG Text Medium"/>
                <a:cs typeface="KBFG Text Medium"/>
              </a:defRPr>
            </a:pPr>
            <a:r>
              <a:rPr sz="1800">
                <a:solidFill>
                  <a:srgbClr val="3F8A55"/>
                </a:solidFill>
                <a:latin typeface="KBFG Text Medium"/>
                <a:ea typeface="KBFG Text Medium"/>
                <a:cs typeface="KBFG Text Medium"/>
              </a:rPr>
              <a:t>04 실험 설계 · 모델 선택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E216865-50D1-4001-84ED-CFD98C29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86384"/>
            <a:ext cx="10728655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2000"/>
              </a:lnSpc>
              <a:buNone/>
              <a:defRPr sz="3333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defRPr>
            </a:pPr>
            <a:r>
              <a:rPr sz="3333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같은 조건에서 4개 모델을 비교했고</a:t>
            </a:r>
          </a:p>
          <a:p xmlns:a="http://schemas.openxmlformats.org/drawingml/2006/main">
            <a:pPr marL="0" indent="0" algn="ctr">
              <a:lnSpc>
                <a:spcPct val="132000"/>
              </a:lnSpc>
              <a:buNone/>
              <a:defRPr sz="3333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defRPr>
            </a:pPr>
            <a:r>
              <a:rPr sz="3333">
                <a:solidFill>
                  <a:srgbClr val="25241F"/>
                </a:solidFill>
                <a:highlight>
                  <a:srgbClr val="FFF3BF"/>
                </a:highlight>
                <a:latin typeface="KBFG Text Medium"/>
                <a:ea typeface="KBFG Text Medium"/>
                <a:cs typeface="KBFG Text Medium"/>
              </a:rPr>
              <a:t>LightGBM</a:t>
            </a:r>
            <a:r>
              <a:rPr sz="3333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을 기준 모델로 선택했습니다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FE4BDC0-E100-4207-8771-B705E981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377440"/>
            <a:ext cx="5394960" cy="301752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77800" dist="38100" dir="5400000" sx="100000" sy="100000" kx="0" ky="0" algn="bl" rotWithShape="0">
              <a:srgbClr val="2A2822">
                <a:alpha val="10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8F10782-0FC1-413F-8748-768891C6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615184"/>
            <a:ext cx="4846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데이터 → 모델 → 8주 검증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32AE2D4-D6CB-475E-99CC-14C3ED0E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309067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80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9947820-4343-4CE2-B0A4-82447A8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035808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1  입력 데이터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01E37C7-D55C-4E15-B00F-4EA5E6D8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310128"/>
            <a:ext cx="4663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45423B"/>
                </a:solidFill>
                <a:latin typeface="KBFG Text Light"/>
                <a:ea typeface="KBFG Text Light"/>
                <a:cs typeface="KBFG Text Light"/>
              </a:rPr>
              <a:t>카드 결제 이력 · 캘린더 일정 · 명시적 피드백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DBFBBB7-4B10-4D05-B9C9-DF8D1FAE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385876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80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1EA1E7D-85B0-4506-B37D-27C3A004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03904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2  동일 조건 비교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682133C-39B7-4350-8D6E-14D853B8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078224"/>
            <a:ext cx="4663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45423B"/>
                </a:solidFill>
                <a:latin typeface="KBFG Text Light"/>
                <a:ea typeface="KBFG Text Light"/>
                <a:cs typeface="KBFG Text Light"/>
              </a:rPr>
              <a:t>최근 평균 · Ridge · Random Forest · LightGBM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7424EB5-17C4-4E01-AB5D-FE8D9E50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626864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8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6AEB0B4-1E05-46DF-8D19-BF9CC9CE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572000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3  홀드아웃 검증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10364C4-12B3-4711-8DD3-F2D5879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846320"/>
            <a:ext cx="4663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45423B"/>
                </a:solidFill>
                <a:latin typeface="KBFG Text Light"/>
                <a:ea typeface="KBFG Text Light"/>
                <a:cs typeface="KBFG Text Light"/>
              </a:rPr>
              <a:t>400명 합성 패널 · 300명 학습 / 100명 평가 · 8주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CE34484-A095-4F14-AB5C-777E6E3C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377440"/>
            <a:ext cx="5084064" cy="301752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77800" dist="38100" dir="5400000" sx="100000" sy="100000" kx="0" ky="0" algn="bl" rotWithShape="0">
              <a:srgbClr val="2A2822">
                <a:alpha val="10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51300ED-79D1-42B4-B8E6-FAC66873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615184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8주차 Active WAPE — 낮을수록 정확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097248A-022B-4435-832C-26A72222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14416"/>
            <a:ext cx="10698480" cy="566928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7CF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81195AB-91BC-4590-9E4B-04C34618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14416"/>
            <a:ext cx="10698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>
                <a:solidFill>
                  <a:srgbClr val="25241F"/>
                </a:solidFill>
                <a:latin typeface="KBFG Text Light"/>
                <a:ea typeface="KBFG Text Light"/>
                <a:cs typeface="KBFG Text Light"/>
              </a:rPr>
              <a:t>LightGBM 27.1%, RF 27.2% — 근소한 우위이므로 8주 파일럿에서 재검증합니다.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32662CB-AA93-4854-A23C-02BBB8F3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254496"/>
            <a:ext cx="10698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45423B"/>
                </a:solidFill>
                <a:latin typeface="KBFG Text Light"/>
                <a:ea typeface="KBFG Text Light"/>
                <a:cs typeface="KBFG Text Light"/>
              </a:rPr>
              <a:t>합성 실험 · 모든 모델 동일 질문/응답 · 실사용자 성능 주장 아님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6629400" y="2981325"/>
          <a:ext xmlns:a="http://schemas.openxmlformats.org/drawingml/2006/main" cx="4514850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99b5d961f649fd"/>
          </a:graphicData>
        </a:graphic>
      </p:graphicFrame>
    </p:spTree>
    <p:extLst>
      <p:ext uri="{BB962C8B-B14F-4D97-AF65-F5344CB8AC3E}">
        <p14:creationId xmlns:p14="http://schemas.microsoft.com/office/powerpoint/2010/main" val="952207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2AAD354-EAD3-4550-9388-D5C0465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455" y="6510528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B5B0A4"/>
                </a:solidFill>
                <a:latin typeface="KBFG Text Medium"/>
                <a:ea typeface="KBFG Text Medium"/>
                <a:cs typeface="KBFG Text Medium"/>
              </a:rPr>
              <a:t>02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FD31966-37C6-41D4-826E-F531FED4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86384"/>
            <a:ext cx="10728655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2000"/>
              </a:lnSpc>
              <a:buNone/>
            </a:pPr>
            <a:r>
              <a:rPr sz="2500">
                <a:solidFill>
                  <a:srgbClr val="25241F"/>
                </a:solidFill>
                <a:highlight>
                  <a:srgbClr val="FFF3BF"/>
                </a:highlight>
                <a:latin typeface="KBFG Text Medium"/>
                <a:ea typeface="KBFG Text Medium"/>
                <a:cs typeface="KBFG Text Medium"/>
              </a:rPr>
              <a:t>검증된 효과</a:t>
            </a:r>
            <a:r>
              <a:rPr sz="250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만 앱에 적용하고
확인되지 않은 개인화는 </a:t>
            </a:r>
            <a:r>
              <a:rPr sz="2500">
                <a:solidFill>
                  <a:srgbClr val="25241F"/>
                </a:solidFill>
                <a:highlight>
                  <a:srgbClr val="FFF3BF"/>
                </a:highlight>
                <a:latin typeface="KBFG Text Medium"/>
                <a:ea typeface="KBFG Text Medium"/>
                <a:cs typeface="KBFG Text Medium"/>
              </a:rPr>
              <a:t>Shadow</a:t>
            </a:r>
            <a:r>
              <a:rPr sz="250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로 둡니다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DB776B6-2787-497C-8582-D7D35536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48" y="2103120"/>
            <a:ext cx="2651760" cy="1481328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77800" dist="38100" dir="5400000" sx="100000" sy="100000" kx="0" ky="0" algn="bl" rotWithShape="0">
              <a:srgbClr val="2A2822">
                <a:alpha val="10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1CB3BD-DF10-4818-93FF-E2D2BBFF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2" y="2249424"/>
            <a:ext cx="21762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+7.84%p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961B2B7-3831-4637-8356-1870D9E9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2" y="2816352"/>
            <a:ext cx="21762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Active vs Passive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343A685-E7A6-4D57-81F0-8FB5DA15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2" y="3072384"/>
            <a:ext cx="21762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5423B"/>
                </a:solidFill>
                <a:latin typeface="KBFG Text Light"/>
                <a:ea typeface="KBFG Text Light"/>
                <a:cs typeface="KBFG Text Light"/>
              </a:rPr>
              <a:t>8주차 총액 WAPE 개선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B3DED89-2D82-4DD7-A505-33A10424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28" y="2103120"/>
            <a:ext cx="2651760" cy="1481328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77800" dist="38100" dir="5400000" sx="100000" sy="100000" kx="0" ky="0" algn="bl" rotWithShape="0">
              <a:srgbClr val="2A2822">
                <a:alpha val="10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6E552C4-B381-4FC4-BBEB-20D6E6C6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672" y="2249424"/>
            <a:ext cx="21762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2.72–13.01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327BF9-9628-4EA0-91B0-C356EB21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672" y="2816352"/>
            <a:ext cx="21762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95% bootstrap CI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A0CF033-1C11-4091-A6CC-B3F2C2C7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672" y="3072384"/>
            <a:ext cx="21762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5423B"/>
                </a:solidFill>
                <a:latin typeface="KBFG Text Light"/>
                <a:ea typeface="KBFG Text Light"/>
                <a:cs typeface="KBFG Text Light"/>
              </a:rPr>
              <a:t>하한 &gt; 0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0CCCB75-3422-4000-B15B-CF9E66F4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008" y="2103120"/>
            <a:ext cx="2651760" cy="1481328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77800" dist="38100" dir="5400000" sx="100000" sy="100000" kx="0" ky="0" algn="bl" rotWithShape="0">
              <a:srgbClr val="2A2822">
                <a:alpha val="10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E6C9664-0484-4B40-95DD-9F9393D8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752" y="2249424"/>
            <a:ext cx="21762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-2.29%p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54E269D-32AA-4265-AB44-256B158C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752" y="2816352"/>
            <a:ext cx="21762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Personal Bayes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D288CDC-2CA9-46E2-8CAC-6FC59226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752" y="3072384"/>
            <a:ext cx="21762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5423B"/>
                </a:solidFill>
                <a:latin typeface="KBFG Text Light"/>
                <a:ea typeface="KBFG Text Light"/>
                <a:cs typeface="KBFG Text Light"/>
              </a:rPr>
              <a:t>Active 대비 악화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B171E3B-5FD5-4EDD-A951-49D3E3BC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088" y="2103120"/>
            <a:ext cx="2651760" cy="1481328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77800" dist="38100" dir="5400000" sx="100000" sy="100000" kx="0" ky="0" algn="bl" rotWithShape="0">
              <a:srgbClr val="2A2822">
                <a:alpha val="10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EE06EF0-0436-4A89-B489-53A0194C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32" y="2249424"/>
            <a:ext cx="21762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74%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661FA84-2C5A-4ABA-BE1E-E9D921A7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32" y="2816352"/>
            <a:ext cx="21762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80% 예측구간 포착률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5BBA18-BDCF-40D4-B8A3-D36C4244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32" y="3072384"/>
            <a:ext cx="21762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5423B"/>
                </a:solidFill>
                <a:latin typeface="KBFG Text Light"/>
                <a:ea typeface="KBFG Text Light"/>
                <a:cs typeface="KBFG Text Light"/>
              </a:rPr>
              <a:t>재보정 필요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A45E9A4-2267-482C-9FC9-EAC6E379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712464"/>
            <a:ext cx="5431536" cy="2139696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77800" dist="38100" dir="5400000" sx="100000" sy="100000" kx="0" ky="0" algn="bl" rotWithShape="0">
              <a:srgbClr val="2A2822">
                <a:alpha val="10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0A2BD1E-30D4-4B6F-B805-6AD0F050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3913632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주 2회 피드백은 이번 예측을 즉시 보정합니다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3447E7B-F9B0-4D4D-B8F6-CC67CBD7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712464"/>
            <a:ext cx="4992624" cy="2139696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BEEE2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4A616AF-CF69-416F-A966-D228FDED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3913632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B4540A"/>
                </a:solidFill>
                <a:latin typeface="KBFG Text Medium"/>
                <a:ea typeface="KBFG Text Medium"/>
                <a:cs typeface="KBFG Text Medium"/>
              </a:rPr>
              <a:t>증거 수준에 따라 적용 범위를 나눕니다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E793224-CE08-4827-A151-D5B2C918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6053328"/>
            <a:ext cx="5943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5241F"/>
                </a:solidFill>
                <a:latin typeface="KBFG Text Light"/>
                <a:ea typeface="KBFG Text Light"/>
                <a:cs typeface="KBFG Text Light"/>
              </a:rPr>
              <a:t>합성 실험 결과 · 응답률 84.5%도 시뮬레이션 · 실사용자 성능 주장 아님</a:t>
            </a:r>
          </a:p>
        </p:txBody>
      </p:sp>
      <p:sp>
        <p:nvSpPr>
          <p:cNvPr id="3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0C40008-51FC-4ADE-A8E9-B82B3C48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0624"/>
            <a:ext cx="4191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F8A55"/>
                </a:solidFill>
                <a:latin typeface="KBFG Text Medium"/>
                <a:ea typeface="KBFG Text Medium"/>
                <a:cs typeface="KBFG Text Medium"/>
              </a:defRPr>
            </a:pPr>
            <a:r>
              <a:rPr sz="1800">
                <a:solidFill>
                  <a:srgbClr val="3F8A55"/>
                </a:solidFill>
                <a:latin typeface="KBFG Text Medium"/>
                <a:ea typeface="KBFG Text Medium"/>
                <a:cs typeface="KBFG Text Medium"/>
              </a:rPr>
              <a:t>04 실험 결과 · 제품 적용</a:t>
            </a:r>
          </a:p>
        </p:txBody>
      </p:sp>
      <p:graphicFrame>
        <p:nvGraphicFramePr>
          <p:cNvPr id="62" name="Chart"/>
          <p:cNvGraphicFramePr/>
          <p:nvPr/>
        </p:nvGraphicFramePr>
        <p:xfrm>
          <a:off xmlns:a="http://schemas.openxmlformats.org/drawingml/2006/main" x="1000125" y="4248150"/>
          <a:ext xmlns:a="http://schemas.openxmlformats.org/drawingml/2006/main" cx="4953000" cy="1504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a04e4c0ee7445a"/>
          </a:graphicData>
        </a:graphic>
      </p:graphicFrame>
      <p:sp>
        <p:nvSpPr>
          <p:cNvPr id="32" name="base-model">
            <a:extLst xmlns:a="http://schemas.openxmlformats.org/drawingml/2006/main">
              <a:ext uri="{FF2B5EF4-FFF2-40B4-BE49-F238E27FC236}">
                <a16:creationId xmlns:a16="http://schemas.microsoft.com/office/drawing/2014/main" id="{859E1233-16AA-46D4-A421-1554A2A3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43400"/>
            <a:ext cx="11620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0">
            <a:solidFill>
              <a:srgbClr val="FFF3BF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defRPr>
            </a:pPr>
            <a:r>
              <a:rPr sz="10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카드·캘린더</a:t>
            </a:r>
          </a:p>
          <a:p xmlns:a="http://schemas.openxmlformats.org/drawingml/2006/main">
            <a:pPr algn="ctr">
              <a:defRPr sz="10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defRPr>
            </a:pPr>
            <a:r>
              <a:rPr sz="10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LightGBM</a:t>
            </a:r>
          </a:p>
        </p:txBody>
      </p:sp>
      <p:sp>
        <p:nvSpPr>
          <p:cNvPr id="3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569E903C-6D0B-421D-9A4E-46D0616B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1714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A600"/>
          </a:solidFill>
          <a:ln xmlns:a="http://schemas.openxmlformats.org/drawingml/2006/main" w="0">
            <a:solidFill>
              <a:srgbClr val="E5A600"/>
            </a:solidFill>
            <a:prstDash val="solid"/>
          </a:ln>
        </p:spPr>
      </p:sp>
      <p:sp>
        <p:nvSpPr>
          <p:cNvPr id="34" name="instant-correction">
            <a:extLst xmlns:a="http://schemas.openxmlformats.org/drawingml/2006/main">
              <a:ext uri="{FF2B5EF4-FFF2-40B4-BE49-F238E27FC236}">
                <a16:creationId xmlns:a16="http://schemas.microsoft.com/office/drawing/2014/main" id="{34801FF1-87F3-4DD7-B6A9-8BDD718F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43400"/>
            <a:ext cx="12573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0">
            <a:solidFill>
              <a:srgbClr val="FFC000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defRPr>
            </a:pPr>
            <a:r>
              <a:rPr sz="10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이번 예측</a:t>
            </a:r>
          </a:p>
          <a:p xmlns:a="http://schemas.openxmlformats.org/drawingml/2006/main">
            <a:pPr algn="ctr">
              <a:defRPr sz="10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defRPr>
            </a:pPr>
            <a:r>
              <a:rPr sz="1050">
                <a:solidFill>
                  <a:srgbClr val="25241F"/>
                </a:solidFill>
                <a:latin typeface="KBFG Text Medium"/>
                <a:ea typeface="KBFG Text Medium"/>
                <a:cs typeface="KBFG Text Medium"/>
              </a:rPr>
              <a:t>즉시 보정</a:t>
            </a:r>
          </a:p>
        </p:txBody>
      </p:sp>
      <p:sp>
        <p:nvSpPr>
          <p:cNvPr id="3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53947E1-A30C-47D9-82AB-FFF77E6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24375"/>
            <a:ext cx="1714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A600"/>
          </a:solidFill>
          <a:ln xmlns:a="http://schemas.openxmlformats.org/drawingml/2006/main" w="0">
            <a:solidFill>
              <a:srgbClr val="E5A600"/>
            </a:solidFill>
            <a:prstDash val="solid"/>
          </a:ln>
        </p:spPr>
      </p:sp>
      <p:sp>
        <p:nvSpPr>
          <p:cNvPr id="36" name="approved-score">
            <a:extLst xmlns:a="http://schemas.openxmlformats.org/drawingml/2006/main">
              <a:ext uri="{FF2B5EF4-FFF2-40B4-BE49-F238E27FC236}">
                <a16:creationId xmlns:a16="http://schemas.microsoft.com/office/drawing/2014/main" id="{FEDE5271-B708-49B6-8BD4-CE949BA0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43400"/>
            <a:ext cx="1247775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6F3E9"/>
          </a:solidFill>
          <a:ln xmlns:a="http://schemas.openxmlformats.org/drawingml/2006/main" w="0">
            <a:solidFill>
              <a:srgbClr val="E6F3E9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E6F43"/>
                </a:solidFill>
                <a:latin typeface="KBFG Text Medium"/>
                <a:ea typeface="KBFG Text Medium"/>
                <a:cs typeface="KBFG Text Medium"/>
              </a:defRPr>
            </a:pPr>
            <a:r>
              <a:rPr sz="1050">
                <a:solidFill>
                  <a:srgbClr val="2E6F43"/>
                </a:solidFill>
                <a:latin typeface="KBFG Text Medium"/>
                <a:ea typeface="KBFG Text Medium"/>
                <a:cs typeface="KBFG Text Medium"/>
              </a:rPr>
              <a:t>Tune 점수</a:t>
            </a:r>
          </a:p>
          <a:p xmlns:a="http://schemas.openxmlformats.org/drawingml/2006/main">
            <a:pPr algn="ctr">
              <a:defRPr sz="1050">
                <a:solidFill>
                  <a:srgbClr val="2E6F43"/>
                </a:solidFill>
                <a:latin typeface="KBFG Text Medium"/>
                <a:ea typeface="KBFG Text Medium"/>
                <a:cs typeface="KBFG Text Medium"/>
              </a:defRPr>
            </a:pPr>
            <a:r>
              <a:rPr sz="1050">
                <a:solidFill>
                  <a:srgbClr val="2E6F43"/>
                </a:solidFill>
                <a:latin typeface="KBFG Text Medium"/>
                <a:ea typeface="KBFG Text Medium"/>
                <a:cs typeface="KBFG Text Medium"/>
              </a:rPr>
              <a:t>사용자 승인</a:t>
            </a:r>
          </a:p>
        </p:txBody>
      </p:sp>
      <p:sp>
        <p:nvSpPr>
          <p:cNvPr id="37" name="shadow-gate">
            <a:extLst xmlns:a="http://schemas.openxmlformats.org/drawingml/2006/main">
              <a:ext uri="{FF2B5EF4-FFF2-40B4-BE49-F238E27FC236}">
                <a16:creationId xmlns:a16="http://schemas.microsoft.com/office/drawing/2014/main" id="{D1DFBB7A-6477-4DEF-A971-7524EC88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57775"/>
            <a:ext cx="43148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2F0EA"/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5850"/>
                </a:solidFill>
                <a:latin typeface="KBFG Text Medium"/>
                <a:ea typeface="KBFG Text Medium"/>
                <a:cs typeface="KBFG Text Medium"/>
              </a:defRPr>
            </a:pPr>
            <a:r>
              <a:rPr sz="1050">
                <a:solidFill>
                  <a:srgbClr val="5C5850"/>
                </a:solidFill>
                <a:latin typeface="KBFG Text Medium"/>
                <a:ea typeface="KBFG Text Medium"/>
                <a:cs typeface="KBFG Text Medium"/>
              </a:rPr>
              <a:t>futureDefault → Personal Bayes (Shadow) → 8주 출시 게이트</a:t>
            </a:r>
          </a:p>
        </p:txBody>
      </p:sp>
    </p:spTree>
    <p:extLst>
      <p:ext uri="{BB962C8B-B14F-4D97-AF65-F5344CB8AC3E}">
        <p14:creationId xmlns:p14="http://schemas.microsoft.com/office/powerpoint/2010/main" val="190428766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2026-07-30T06:44:59.1880000Z</dcterms:created>
  <dcterms:modified xsi:type="dcterms:W3CDTF">2026-07-30T06:44:59.1880000Z</dcterms:modified>
</coreProperties>
</file>