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07208" y="914400"/>
            <a:ext cx="6583680" cy="6583680"/>
          </a:xfrm>
          <a:prstGeom prst="ellipse">
            <a:avLst/>
          </a:prstGeom>
          <a:solidFill>
            <a:srgbClr val="FFCC0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995928" y="2103120"/>
            <a:ext cx="4206240" cy="4206240"/>
          </a:xfrm>
          <a:prstGeom prst="ellipse">
            <a:avLst/>
          </a:prstGeom>
          <a:solidFill>
            <a:srgbClr val="FFCC00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 AI Challenge 2026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961327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Team KB Tune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0" y="868680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일정 기반 AI 소비 계획 서비스 ‘KB Tune’ 제안서</a:t>
            </a:r>
            <a:endParaRPr lang="en-US" sz="1400" dirty="0"/>
          </a:p>
        </p:txBody>
      </p:sp>
      <p:pic>
        <p:nvPicPr>
          <p:cNvPr id="7" name="Image 0" descr="/root/kb/assets/mascot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6552" y="1280160"/>
            <a:ext cx="868680" cy="841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58384" y="128016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-60" kern="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 Tune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0" y="224942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가계부는 이미 쓴 돈만 보여줍니다.  </a:t>
            </a:r>
            <a:pPr algn="ctr" indent="0" marL="0">
              <a:buNone/>
            </a:pPr>
            <a:r>
              <a:rPr lang="en-US" sz="15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 Tune은 앞으로 쓸 돈을 미리 알려드립니다.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11980" y="2692908"/>
            <a:ext cx="1698796" cy="3575304"/>
          </a:xfrm>
          <a:prstGeom prst="roundRect">
            <a:avLst>
              <a:gd name="adj" fmla="val 7536"/>
            </a:avLst>
          </a:prstGeom>
          <a:solidFill>
            <a:srgbClr val="FFFFFF"/>
          </a:solidFill>
          <a:ln w="12700">
            <a:solidFill>
              <a:srgbClr val="E6E2D8"/>
            </a:solidFill>
            <a:prstDash val="solid"/>
          </a:ln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pic>
        <p:nvPicPr>
          <p:cNvPr id="11" name="Image 1" descr="/root/kb/r/07-chat-event-propos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743200"/>
            <a:ext cx="1598212" cy="3474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984748" y="2875788"/>
            <a:ext cx="1698796" cy="3575304"/>
          </a:xfrm>
          <a:prstGeom prst="roundRect">
            <a:avLst>
              <a:gd name="adj" fmla="val 7536"/>
            </a:avLst>
          </a:prstGeom>
          <a:solidFill>
            <a:srgbClr val="FFFFFF"/>
          </a:solidFill>
          <a:ln w="12700">
            <a:solidFill>
              <a:srgbClr val="E6E2D8"/>
            </a:solidFill>
            <a:prstDash val="solid"/>
          </a:ln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pic>
        <p:nvPicPr>
          <p:cNvPr id="13" name="Image 2" descr="/root/kb/r/01-week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926080"/>
            <a:ext cx="1598212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49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Contents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KB AI Challenge 2026 · KB Tune</a:t>
            </a:r>
            <a:endParaRPr lang="en-US" sz="1200" dirty="0"/>
          </a:p>
        </p:txBody>
      </p:sp>
      <p:pic>
        <p:nvPicPr>
          <p:cNvPr id="4" name="Image 0" descr="/root/kb/assets/mascot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920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024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656832" y="1024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92640" y="1024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··· 3p ~ 6p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993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56832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서비스 제안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92640" y="1993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··· 7p ~ 11p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296265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656832" y="29626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차별점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92640" y="2962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··· 12p ~ 13p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56832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실현 가능성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69264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··· 14p ~ 16p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49011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656832" y="49011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기대효과 · 사업성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692640" y="49011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··· 17p ~ 20p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제안 배경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가계부 앱은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이미 쓴 돈만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 보여줍니다</a:t>
            </a:r>
            <a:endParaRPr lang="en-US" sz="24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정작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이번 주에 얼마를 더 써도 되는지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는 알려주지 않습니다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64312" y="2487168"/>
            <a:ext cx="3401568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1784" y="28712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6" name="Text 4"/>
          <p:cNvSpPr/>
          <p:nvPr/>
        </p:nvSpPr>
        <p:spPr>
          <a:xfrm>
            <a:off x="1011784" y="2871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40968" y="2852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덩어리로 잡는 예산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11784" y="3419856"/>
            <a:ext cx="2706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‘식비 30만원’처럼 카테고리 단위로 예산을 세웁니다.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하지만 이번 주 목요일 약속에 나가도 되는 금액이 얼마인지는 그 숫자로 알 수 없습니다.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5064" y="2487168"/>
            <a:ext cx="3401568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42536" y="28712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11" name="Text 9"/>
          <p:cNvSpPr/>
          <p:nvPr/>
        </p:nvSpPr>
        <p:spPr>
          <a:xfrm>
            <a:off x="4742536" y="2871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1720" y="2852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기록은 언제나 사후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42536" y="3419856"/>
            <a:ext cx="2706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결제가 끝난 뒤에 분류될 뿐입니다.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다음 주에 잡힌 약속 · 병원 · 경조사가 얼마를 가져갈지는 사용자가 직접 머릿속으로 계산해야 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5816" y="2487168"/>
            <a:ext cx="3401568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3288" y="28712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73288" y="2871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02472" y="2852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뒤로 밀리는 저축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73288" y="3419856"/>
            <a:ext cx="2706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남은 돈을 모르니 저축은 늘 마지막 순서가 됩니다.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목표는 세워 두었는데 매달 어긋나고, 왜 어긋났는지도 설명되지 않습니다.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77900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※ 시장 규모 · 사용자 설문 수치를 넣을 자리는 6페이지 하단에 별도로 두었습니다.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제안 배경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우리는 ‘식비’로 사는 게 아니라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약속 하나와 병원 한 번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으로 돈을 씁니다</a:t>
            </a:r>
            <a:endParaRPr lang="en-US" sz="24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그래서 예산의 단위를 카테고리가 아니라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일정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으로 바꿨습니다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34440" y="2542032"/>
            <a:ext cx="4297680" cy="1810512"/>
          </a:xfrm>
          <a:prstGeom prst="roundRect">
            <a:avLst>
              <a:gd name="adj" fmla="val 8081"/>
            </a:avLst>
          </a:prstGeom>
          <a:solidFill>
            <a:srgbClr val="F2F0EA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As-Is  ·  카테고리 예산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00200" y="3145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8C887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식비 30만원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600200" y="3712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얼마 남았는지 알 수 없습니다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56832" y="2542032"/>
            <a:ext cx="4297680" cy="1810512"/>
          </a:xfrm>
          <a:prstGeom prst="roundRect">
            <a:avLst>
              <a:gd name="adj" fmla="val 8081"/>
            </a:avLst>
          </a:prstGeom>
          <a:solidFill>
            <a:srgbClr val="FFF7CF"/>
          </a:solidFill>
          <a:ln/>
        </p:spPr>
      </p:sp>
      <p:sp>
        <p:nvSpPr>
          <p:cNvPr id="9" name="Text 7"/>
          <p:cNvSpPr/>
          <p:nvPr/>
        </p:nvSpPr>
        <p:spPr>
          <a:xfrm>
            <a:off x="7022592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To-Be  ·  일정 단위 예산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22592" y="3090672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이번 주 40,000원 나가고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60,000원 남아요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022592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지금 결정에 바로 쓸 수 있는 숫자입니다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3447288"/>
            <a:ext cx="841248" cy="0"/>
          </a:xfrm>
          <a:prstGeom prst="line">
            <a:avLst/>
          </a:prstGeom>
          <a:noFill/>
          <a:ln w="31750">
            <a:solidFill>
              <a:srgbClr val="E0A8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34440" y="4626864"/>
            <a:ext cx="9720072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00200" y="4846320"/>
            <a:ext cx="8988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일정마다 금액이 붙으면 계산이 가능해집니다. 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월 수입에서 고정비 · 저축 목표 · 카드 할부 이월을 빼고, 그 주가 이번 달에 포함한 날짜 수만큼 배분한 뒤, 지난주 이월까지 더해서 ‘이번 주 추가 사용 가능액’을 매번 다시 계산합니다.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5852160" cy="5852160"/>
          </a:xfrm>
          <a:prstGeom prst="ellipse">
            <a:avLst/>
          </a:prstGeom>
          <a:solidFill>
            <a:srgbClr val="FFCC0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3108960"/>
            <a:ext cx="5303520" cy="5303520"/>
          </a:xfrm>
          <a:prstGeom prst="ellipse">
            <a:avLst/>
          </a:prstGeom>
          <a:solidFill>
            <a:srgbClr val="FFCC00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FFCC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제안 배경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2377440"/>
            <a:ext cx="1018001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그렇다면 일정마다 금액을 붙이고,</a:t>
            </a:r>
            <a:endParaRPr lang="en-US" sz="26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2600" dirty="0">
                <a:solidFill>
                  <a:srgbClr val="25241F"/>
                </a:solidFill>
                <a:highlight>
                  <a:srgbClr val="FFCC00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숫자를 지어내지 않는</a:t>
            </a:r>
            <a:pPr algn="ctr" indent="0" marL="0">
              <a:lnSpc>
                <a:spcPct val="15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 AI가 계획을 다시 계산해 준다면</a:t>
            </a:r>
            <a:endParaRPr lang="en-US" sz="26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KB는 </a:t>
            </a:r>
            <a:pPr algn="ctr" indent="0" marL="0">
              <a:lnSpc>
                <a:spcPct val="155000"/>
              </a:lnSpc>
              <a:buNone/>
            </a:pPr>
            <a:r>
              <a:rPr lang="en-US" sz="2600" dirty="0">
                <a:solidFill>
                  <a:srgbClr val="25241F"/>
                </a:solidFill>
                <a:highlight>
                  <a:srgbClr val="FFCC00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쓰고 난 뒤가 아니라 쓰기 전에 만나는 금융</a:t>
            </a:r>
            <a:pPr algn="ctr" indent="0" marL="0">
              <a:lnSpc>
                <a:spcPct val="15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이 될 수 있지 않을까요?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제안 배경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두 사용자 모두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‘지금 써도 되는 금액’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 하나를 기다리고 있었습니다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83184" y="2084832"/>
            <a:ext cx="5120640" cy="3968496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8944" y="23408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Persona 1.  </a:t>
            </a:r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계획은 세우지만 늘 어긋나는 사회 초년생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48944" y="2724912"/>
            <a:ext cx="4389120" cy="713232"/>
          </a:xfrm>
          <a:prstGeom prst="roundRect">
            <a:avLst>
              <a:gd name="adj" fmla="val 16667"/>
            </a:avLst>
          </a:prstGeom>
          <a:solidFill>
            <a:srgbClr val="FFF7CF"/>
          </a:solidFill>
          <a:ln/>
        </p:spPr>
      </p:sp>
      <p:sp>
        <p:nvSpPr>
          <p:cNvPr id="7" name="Text 5"/>
          <p:cNvSpPr/>
          <p:nvPr/>
        </p:nvSpPr>
        <p:spPr>
          <a:xfrm>
            <a:off x="1331824" y="272491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“통장에 15만원 남았는데,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다음 주 약속 나가면 얼마 남지?”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8944" y="35112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454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#머릿속계산 #저축은늘뒤로 #덩어리예산답답</a:t>
            </a:r>
            <a:endParaRPr lang="en-US" sz="1050" dirty="0"/>
          </a:p>
        </p:txBody>
      </p:sp>
      <p:pic>
        <p:nvPicPr>
          <p:cNvPr id="9" name="Image 0" descr="/root/kb/assets/person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080" y="3767328"/>
            <a:ext cx="868735" cy="12252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7504" y="5084064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28세 · 직장인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월 수입 220만원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저축 목표 80만원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2557120" y="3858768"/>
            <a:ext cx="298094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Situation
</a:t>
            </a:r>
            <a:pPr indent="0" marL="0">
              <a:lnSpc>
                <a:spcPct val="132000"/>
              </a:lnSpc>
              <a:buNone/>
            </a:pPr>
            <a:r>
              <a:rPr lang="en-US" sz="10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약속 · 병원 · 경조사가 겹치는 달에는 남은 돈이 얼마인지 감이 오지 않아, 결국 저축을 미루고 다음 달로 넘긴다.
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Need
</a:t>
            </a:r>
            <a:pPr indent="0" marL="0">
              <a:lnSpc>
                <a:spcPct val="132000"/>
              </a:lnSpc>
              <a:buNone/>
            </a:pPr>
            <a:r>
              <a:rPr lang="en-US" sz="108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카테고리 예산이 아니라, 이번 주에 더 써도 되는 금액을 숫자 하나로 알려주는 안내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87872" y="2084832"/>
            <a:ext cx="5120640" cy="3968496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53632" y="23408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Persona 2.  </a:t>
            </a:r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혜택은 챙기고 싶은데 비교가 귀찮은 실속형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653632" y="2724912"/>
            <a:ext cx="4389120" cy="713232"/>
          </a:xfrm>
          <a:prstGeom prst="roundRect">
            <a:avLst>
              <a:gd name="adj" fmla="val 16667"/>
            </a:avLst>
          </a:prstGeom>
          <a:solidFill>
            <a:srgbClr val="FFF7CF"/>
          </a:solidFill>
          <a:ln/>
        </p:spPr>
      </p:sp>
      <p:sp>
        <p:nvSpPr>
          <p:cNvPr id="15" name="Text 12"/>
          <p:cNvSpPr/>
          <p:nvPr/>
        </p:nvSpPr>
        <p:spPr>
          <a:xfrm>
            <a:off x="6836512" y="272491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“카드 바꾸면 이득인 건 알겠는데,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매번 계산해 보기가 너무 번거로워요.”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53632" y="35112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454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#실적조건복잡 #연회비계산귀찮 #광고말고근거</a:t>
            </a:r>
            <a:endParaRPr lang="en-US" sz="1050" dirty="0"/>
          </a:p>
        </p:txBody>
      </p:sp>
      <p:pic>
        <p:nvPicPr>
          <p:cNvPr id="17" name="Image 1" descr="/root/kb/assets/person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693" y="3767328"/>
            <a:ext cx="972885" cy="12252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62192" y="5084064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35세 · 직장인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카드 2장 사용</a:t>
            </a:r>
            <a:endParaRPr lang="en-US" sz="9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앱 알림은 대부분 무시</a:t>
            </a:r>
            <a:endParaRPr lang="en-US" sz="980" dirty="0"/>
          </a:p>
        </p:txBody>
      </p:sp>
      <p:sp>
        <p:nvSpPr>
          <p:cNvPr id="19" name="Text 15"/>
          <p:cNvSpPr/>
          <p:nvPr/>
        </p:nvSpPr>
        <p:spPr>
          <a:xfrm>
            <a:off x="8061808" y="3858768"/>
            <a:ext cx="298094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Situation
</a:t>
            </a:r>
            <a:pPr indent="0" marL="0">
              <a:lnSpc>
                <a:spcPct val="132000"/>
              </a:lnSpc>
              <a:buNone/>
            </a:pPr>
            <a:r>
              <a:rPr lang="en-US" sz="10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혜택 안내는 늘 오지만 내 소비 기준으로 얼마 이득인지는 알려주지 않아, 추천을 광고로 인식하고 넘긴다.
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Need
</a:t>
            </a:r>
            <a:pPr indent="0" marL="0">
              <a:lnSpc>
                <a:spcPct val="132000"/>
              </a:lnSpc>
              <a:buNone/>
            </a:pPr>
            <a:r>
              <a:rPr lang="en-US" sz="108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내 실제 소비로 계산된 순혜택과, 조건을 못 채우면 못 채운다고 말해 주는 정직한 비교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22960" y="619963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※ 페르소나는 데모 데이터(2026년 7월 캘린더) 기준의 사용 맥락 가정입니다. 자체 설문 결과가 있다면 이 자리에 함께 배치할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서비스 제안 – KB Tune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일정을 넣으면 금액이 붙고,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이번 주 쓸 수 있는 돈이 다시 계산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2212848"/>
            <a:ext cx="5870448" cy="3913632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4871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일정 추가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62656" y="2432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캘린더에 제목만 적어도 됩니다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1078992" y="2889504"/>
            <a:ext cx="5358384" cy="0"/>
          </a:xfrm>
          <a:prstGeom prst="line">
            <a:avLst/>
          </a:prstGeom>
          <a:noFill/>
          <a:ln w="12700">
            <a:solidFill>
              <a:srgbClr val="E6E2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30998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099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3044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금액 추정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62656" y="3044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과거 결제 이력의 중앙값 · 반복 주기로 채웁니다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1078992" y="3502152"/>
            <a:ext cx="5358384" cy="0"/>
          </a:xfrm>
          <a:prstGeom prst="line">
            <a:avLst/>
          </a:prstGeom>
          <a:noFill/>
          <a:ln w="12700">
            <a:solidFill>
              <a:srgbClr val="E6E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371246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3712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3657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영향 표시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62656" y="3657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넣기 전에 가능액과 목표 확률의 전 · 후를 보여줍니다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1078992" y="4114800"/>
            <a:ext cx="5358384" cy="0"/>
          </a:xfrm>
          <a:prstGeom prst="line">
            <a:avLst/>
          </a:prstGeom>
          <a:noFill/>
          <a:ln w="12700">
            <a:solidFill>
              <a:srgbClr val="E6E2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" y="432511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42702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조정안 제시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62656" y="4270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목표를 못 지킬 것 같으면 무엇을 미루면 되는지 먼저 말합니다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078992" y="4727448"/>
            <a:ext cx="5358384" cy="0"/>
          </a:xfrm>
          <a:prstGeom prst="line">
            <a:avLst/>
          </a:prstGeom>
          <a:noFill/>
          <a:ln w="12700">
            <a:solidFill>
              <a:srgbClr val="E6E2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992" y="493776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78992" y="4937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48828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즉시 반영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62656" y="48828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캘린더 · 예산 · 확률이 같은 화면에서 함께 움직입니다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1078992" y="5340096"/>
            <a:ext cx="5358384" cy="0"/>
          </a:xfrm>
          <a:prstGeom prst="line">
            <a:avLst/>
          </a:prstGeom>
          <a:noFill/>
          <a:ln w="12700">
            <a:solidFill>
              <a:srgbClr val="E6E2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8992" y="555040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31" name="Text 29"/>
          <p:cNvSpPr/>
          <p:nvPr/>
        </p:nvSpPr>
        <p:spPr>
          <a:xfrm>
            <a:off x="1078992" y="5550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54955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하루 마감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62656" y="5495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카드 기록이 없는 지출만 확인해 다음 예측을 정확하게 만듭니다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7136892" y="2162556"/>
            <a:ext cx="1900676" cy="4014216"/>
          </a:xfrm>
          <a:prstGeom prst="roundRect">
            <a:avLst>
              <a:gd name="adj" fmla="val 6735"/>
            </a:avLst>
          </a:prstGeom>
          <a:solidFill>
            <a:srgbClr val="FFFFFF"/>
          </a:solidFill>
          <a:ln w="12700">
            <a:solidFill>
              <a:srgbClr val="E6E2D8"/>
            </a:solidFill>
            <a:prstDash val="solid"/>
          </a:ln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pic>
        <p:nvPicPr>
          <p:cNvPr id="35" name="Image 0" descr="/root/kb/r/01-week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184" y="2212848"/>
            <a:ext cx="1800092" cy="3913632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509760" y="2340864"/>
            <a:ext cx="1929384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729216" y="2450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주간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729216" y="27249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이번 주 가능액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9509760" y="3282696"/>
            <a:ext cx="1929384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9729216" y="33924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분석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729216" y="366674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지출의 세 가지 상태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9509760" y="4224528"/>
            <a:ext cx="1929384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9729216" y="43342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대화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729216" y="46085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묻고 바꾸기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9509760" y="5166360"/>
            <a:ext cx="1929384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9729216" y="52760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카드·적금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9729216" y="5550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순혜택 비교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서비스 제안 – KB Tune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49808" y="786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1  </a:t>
            </a:r>
            <a:pPr indent="0" marL="0">
              <a:buNone/>
            </a:pPr>
            <a:r>
              <a:rPr lang="en-US" sz="26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주간 계획 — 큰 숫자 하나로 시작합니다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13167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월 수입에서 고정비 · 저축 목표 · 카드 할부 이월을 빼고 주차 일수만큼 배분한 뒤, 지난주 이월까지 반영해 매번 다시 계산합니다.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05756" y="1824228"/>
            <a:ext cx="2001615" cy="4233672"/>
          </a:xfrm>
          <a:prstGeom prst="roundRect">
            <a:avLst>
              <a:gd name="adj" fmla="val 6396"/>
            </a:avLst>
          </a:prstGeom>
          <a:solidFill>
            <a:srgbClr val="FFFFFF"/>
          </a:solidFill>
          <a:ln w="12700">
            <a:solidFill>
              <a:srgbClr val="E6E2D8"/>
            </a:solidFill>
            <a:prstDash val="solid"/>
          </a:ln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pic>
        <p:nvPicPr>
          <p:cNvPr id="6" name="Image 0" descr="/root/kb/r/01-week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874520"/>
            <a:ext cx="1901031" cy="41330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" y="2011680"/>
            <a:ext cx="3968496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42416" y="2231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이번 주 추가 사용 가능액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42416" y="2560320"/>
            <a:ext cx="3383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월 배분 · 주차 배분 · 지난주 이월 · 할부 이월을 모두 반영한 단 하나의 숫자입니다. 남은 돈이 0원이면 0원이라고 말합니다.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" y="3584448"/>
            <a:ext cx="3968496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42416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조정안 보기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42416" y="4133088"/>
            <a:ext cx="3383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목표를 못 지킬 것 같으면 줄이라고 하지 않고, 어떤 일정을 다음 주로 미루면 얼마가 돌아오는지 먼저 제안합니다.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79792" y="2011680"/>
            <a:ext cx="3968496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0" y="2231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하루 마감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72400" y="2560320"/>
            <a:ext cx="3383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카드로 결제한 건 묻지 않습니다. 결제 기록이 없는 지출만 확인해 다음 예측을 정확하게 만듭니다.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79792" y="3584448"/>
            <a:ext cx="3968496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다음 결제일 청구액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772400" y="4133088"/>
            <a:ext cx="3383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월 예산과 별도로, 카드에서 실제 빠져나갈 금액을 D-day와 함께 항상 하단에 띄워 둡니다.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9808" y="62727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0원 → 조정안 실행 → 회복</a:t>
            </a:r>
            <a:pPr algn="ctr" indent="0" marL="0"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  ·  시연에서 숫자가 실제로 움직이는 장면을 그대로 보여줍니다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서비스 제안 – KB Tune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49808" y="7863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2  </a:t>
            </a:r>
            <a:pPr indent="0" marL="0">
              <a:buNone/>
            </a:pPr>
            <a:r>
              <a:rPr lang="en-US" sz="26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대화 — 묻는 것도, 바꾸는 것도 대화 안에서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13167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“고객센터로 연결해 드릴까요”로 끝나지 않습니다. 말풍선 안의 버튼이 실제로 일정을 넣고 예산을 다시 계산합니다.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18388" y="1824228"/>
            <a:ext cx="2203495" cy="4672584"/>
          </a:xfrm>
          <a:prstGeom prst="roundRect">
            <a:avLst>
              <a:gd name="adj" fmla="val 5810"/>
            </a:avLst>
          </a:prstGeom>
          <a:solidFill>
            <a:srgbClr val="FFFFFF"/>
          </a:solidFill>
          <a:ln w="12700">
            <a:solidFill>
              <a:srgbClr val="E6E2D8"/>
            </a:solidFill>
            <a:prstDash val="solid"/>
          </a:ln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pic>
        <p:nvPicPr>
          <p:cNvPr id="6" name="Image 0" descr="/root/kb/r/07-chat-event-propos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2102911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10128" y="1874520"/>
            <a:ext cx="8138160" cy="4553712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02736" y="213969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9" name="Text 6"/>
          <p:cNvSpPr/>
          <p:nvPr/>
        </p:nvSpPr>
        <p:spPr>
          <a:xfrm>
            <a:off x="3602736" y="2139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86784" y="21031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기기 안에서 말을 이해합니다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986784" y="2414016"/>
            <a:ext cx="7187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“8월 5일 카페 갈래”에서 날짜와 유형을 폰이 직접 뽑아냅니다. 문장 원문도, 일정 제목도 서버로 나가지 않습니다.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02736" y="30723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13" name="Text 10"/>
          <p:cNvSpPr/>
          <p:nvPr/>
        </p:nvSpPr>
        <p:spPr>
          <a:xfrm>
            <a:off x="3602736" y="3072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986784" y="303580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금액은 내 과거 결제에서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986784" y="3346704"/>
            <a:ext cx="7187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카페 결제 2건의 중앙값 20,000원을 제안하고 관측 범위 10,000~30,000원을 함께 밝힙니다. 평균이 아니라 중앙값을 쓰는 이유는 한 번 크게 쓴 건이 전체를 끌어올리기 때문입니다.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02736" y="400507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17" name="Text 14"/>
          <p:cNvSpPr/>
          <p:nvPr/>
        </p:nvSpPr>
        <p:spPr>
          <a:xfrm>
            <a:off x="3602736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986784" y="396849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영향을 먼저 보여줍니다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986784" y="4279392"/>
            <a:ext cx="7187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추가 사용 가능액 314,896원 → 294,896원, 적금 목표 확률 100% → 100%. 넣기 전에 결과를 보여 주고 결정은 사용자가 합니다.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02736" y="493776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21" name="Text 18"/>
          <p:cNvSpPr/>
          <p:nvPr/>
        </p:nvSpPr>
        <p:spPr>
          <a:xfrm>
            <a:off x="3602736" y="4937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986784" y="490118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버튼이 실제로 실행합니다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3986784" y="5212080"/>
            <a:ext cx="7187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일정 추가 · 금액 변경 · 다음 주로 이동 · 상품 화면 이동까지 대화 안에서 끝납니다. 기기 캘린더에도 함께 저장됩니다.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02736" y="59436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EF5EC"/>
          </a:solidFill>
          <a:ln/>
        </p:spPr>
      </p:sp>
      <p:sp>
        <p:nvSpPr>
          <p:cNvPr id="25" name="Text 22"/>
          <p:cNvSpPr/>
          <p:nvPr/>
        </p:nvSpPr>
        <p:spPr>
          <a:xfrm>
            <a:off x="3602736" y="5943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기기 안에서만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102352" y="59436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외부 AI를 켜지 않으면 대화도 폰 안에서 처리되고, 화면과 같은 숫자로 답합니다.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서비스 제안 – KB Tune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49808" y="7863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3  </a:t>
            </a:r>
            <a:pPr indent="0" marL="0">
              <a:buNone/>
            </a:pPr>
            <a:r>
              <a:rPr lang="en-US" sz="26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분석 — 돈을 세 가지 상태로 나눕니다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13167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“이번 달 80만원”이라고만 하면 이미 쓴 돈인지 앞으로 쓸 돈인지 알 수 없습니다. 상태를 나눠야 다음 결정을 할 수 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5029200" cy="896112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3055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F7CF"/>
          </a:solidFill>
          <a:ln w="15240">
            <a:solidFill>
              <a:srgbClr val="E0A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6192" y="2020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확정 지출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36192" y="2313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이미 썼거나 반드시 나갈 돈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66160" y="2020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A800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분석 화면에서 노란색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2926080"/>
            <a:ext cx="5029200" cy="896112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31821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EF5EC"/>
          </a:solidFill>
          <a:ln w="15240">
            <a:solidFill>
              <a:srgbClr val="3F8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3072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예약 예산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36192" y="3364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일정에 잡아 뒀지만 아직 결제 전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566160" y="3072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8A55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‘예약’ 배지 · 실제 출금 없음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" y="3977640"/>
            <a:ext cx="5029200" cy="896112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42336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2F0EA"/>
          </a:solidFill>
          <a:ln w="15240">
            <a:solidFill>
              <a:srgbClr val="7471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6192" y="4123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패턴 예상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36192" y="4416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캘린더엔 없지만 주기가 돌아온 지출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566160" y="4123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짙은 회색 · 동의해야 반영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" y="5029200"/>
            <a:ext cx="502920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5193792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반복 소비 패턴 — 같은 이름이 2회 이상 관측될 때만 반복으로 인정합니다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5468112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와드 42일 · 40,000원  |  쿠팡 장보기 10일 · 35,000원  |  주말 데이트 14일 · 70,000원  |  미용실 49일 · 26,000원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결혼식 · 정장 구매 같은 1회성 지출은 다음 달로 복제하지 않습니다.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0508" y="1824228"/>
            <a:ext cx="2056291" cy="4352544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12700">
            <a:solidFill>
              <a:srgbClr val="E6E2D8"/>
            </a:solidFill>
            <a:prstDash val="solid"/>
          </a:ln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pic>
        <p:nvPicPr>
          <p:cNvPr id="24" name="Image 0" descr="/root/kb/r/08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874520"/>
            <a:ext cx="1955707" cy="425196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686800" y="1874520"/>
            <a:ext cx="2761488" cy="425196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979408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화면에서 읽히는 것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979408" y="2542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7월 지출 합계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979408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약 1,602,000원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979408" y="32369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필수 지출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979408" y="3456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927,000원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979408" y="39319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식비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979408" y="41513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350,000원 (예상 +100,000원)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979408" y="46268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색 구분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979408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노랑=지출 완료 · 회색=예상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979408" y="53218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결제 캡처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979408" y="5541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기기 안에서만 OCR · 원본 미전송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서비스 제안 – KB Tune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49808" y="78638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4  </a:t>
            </a:r>
            <a:pPr indent="0" marL="0">
              <a:buNone/>
            </a:pPr>
            <a:r>
              <a:rPr lang="en-US" sz="26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카드 · 적금 — 계획을 다 세운 다음에 나옵니다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13167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추천을 앞세우지 않습니다. 돈이 어떻게 도는지 보여준 다음, 내 소비로 계산한 월 순혜택 순서대로 제시합니다.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6711696" cy="4224528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17627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26464" y="213969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순혜택으로 순서를 매깁니다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26464" y="2450592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카드사 광고 순서가 아니라, 내 캘린더에서 다시 뽑은 소비로 월 예상 혜택을 계산하고 연회비를 뺀 순혜택으로 정렬합니다.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42416" y="318211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3182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31455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조건은 하드필터로 먼저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26464" y="3456432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연령 · 전월 실적 조건을 통과하지 못하는 상품은 순위에 올리지 않습니다. 이득이 없으면 없다고 말합니다.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42416" y="418795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26464" y="415137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될 것처럼 말하지 않습니다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26464" y="4462272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신용카드는 “발급됩니다”가 아니라 “심사를 받아야 해요”로 씁니다. 실적을 채우려고 더 쓰라는 말은 하지 않습니다.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42416" y="51937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42416" y="5193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26464" y="515721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마지막은 KB 공식 안내로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426464" y="5468112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검증일을 화면에 표기하고, 가입 전 KB국민은행 · KB국민카드 공식 안내에서 다시 확인하도록 연결합니다.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31836" y="1824228"/>
            <a:ext cx="2043674" cy="4325112"/>
          </a:xfrm>
          <a:prstGeom prst="roundRect">
            <a:avLst>
              <a:gd name="adj" fmla="val 6264"/>
            </a:avLst>
          </a:prstGeom>
          <a:solidFill>
            <a:srgbClr val="FFFFFF"/>
          </a:solidFill>
          <a:ln w="12700">
            <a:solidFill>
              <a:srgbClr val="E6E2D8"/>
            </a:solidFill>
            <a:prstDash val="solid"/>
          </a:ln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pic>
        <p:nvPicPr>
          <p:cNvPr id="23" name="Image 0" descr="/root/kb/r/09-products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874520"/>
            <a:ext cx="1943090" cy="422452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9802368" y="1874520"/>
            <a:ext cx="1645920" cy="4224528"/>
          </a:xfrm>
          <a:prstGeom prst="roundRect">
            <a:avLst>
              <a:gd name="adj" fmla="val 8889"/>
            </a:avLst>
          </a:prstGeom>
          <a:solidFill>
            <a:srgbClr val="FFF7CF"/>
          </a:solidFill>
          <a:ln/>
        </p:spPr>
      </p:sp>
      <p:sp>
        <p:nvSpPr>
          <p:cNvPr id="25" name="Text 22"/>
          <p:cNvSpPr/>
          <p:nvPr/>
        </p:nvSpPr>
        <p:spPr>
          <a:xfrm>
            <a:off x="9966960" y="21031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데모 기준 계산 결과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966960" y="274320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7월 예상 지출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966960" y="31089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801,000원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966960" y="365760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청춘대로 톡톡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966960" y="40233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+24,167원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966960" y="457200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노리2 체크(KB Pay)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966960" y="493776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+13,800원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966960" y="554126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월 예상 혜택 · 연회비 차감 후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차별점 – 온디바이스 개인정보 보호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기본값은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‘아무것도 나가지 않음’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입니다</a:t>
            </a:r>
            <a:endParaRPr lang="en-US" sz="24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받아서 그냥 켜면 외부 AI를 한 번도 호출하지 않습니다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2395728"/>
            <a:ext cx="7223760" cy="3310128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42416" y="2578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이름 · 나이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83280" y="257860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나가지 않음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90288" y="2578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서버 스키마에 받는 필드 자체가 없습니다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1042416" y="3022092"/>
            <a:ext cx="6656832" cy="0"/>
          </a:xfrm>
          <a:prstGeom prst="line">
            <a:avLst/>
          </a:prstGeom>
          <a:noFill/>
          <a:ln w="12700">
            <a:solidFill>
              <a:srgbClr val="E6E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3099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질문 원문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309981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나가지 않음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0288" y="3099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폰에서 ‘카페 지출 질문’ 같은 금융 의도로 바꿔 보냅니다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1042416" y="3543300"/>
            <a:ext cx="6656832" cy="0"/>
          </a:xfrm>
          <a:prstGeom prst="line">
            <a:avLst/>
          </a:prstGeom>
          <a:noFill/>
          <a:ln w="12700">
            <a:solidFill>
              <a:srgbClr val="E6E2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6210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일정 제목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362102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나가지 않음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0288" y="36210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켜고 끄는 선택지조차 두지 않았습니다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042416" y="4064508"/>
            <a:ext cx="6656832" cy="0"/>
          </a:xfrm>
          <a:prstGeom prst="line">
            <a:avLst/>
          </a:prstGeom>
          <a:noFill/>
          <a:ln w="12700">
            <a:solidFill>
              <a:srgbClr val="E6E2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142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결제 캡처 · OCR 원문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414223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나가지 않음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90288" y="4142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Apple Vision으로 기기 안에서만 읽습니다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042416" y="4585716"/>
            <a:ext cx="6656832" cy="0"/>
          </a:xfrm>
          <a:prstGeom prst="line">
            <a:avLst/>
          </a:prstGeom>
          <a:noFill/>
          <a:ln w="12700">
            <a:solidFill>
              <a:srgbClr val="E6E2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4663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음성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46634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나가지 않음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90288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온디바이스 인식 · 녹음 파일을 저장하지 않습니다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1042416" y="5106924"/>
            <a:ext cx="6656832" cy="0"/>
          </a:xfrm>
          <a:prstGeom prst="line">
            <a:avLst/>
          </a:prstGeom>
          <a:noFill/>
          <a:ln w="12700">
            <a:solidFill>
              <a:srgbClr val="E6E2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5184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날짜 · 유형 · 금액, 예산 집계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3280" y="518464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540A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켠 경우에만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90288" y="5184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사용자가 외부 AI를 직접 허용했을 때만 전송됩니다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266176" y="2395728"/>
            <a:ext cx="3182112" cy="1572768"/>
          </a:xfrm>
          <a:prstGeom prst="roundRect">
            <a:avLst>
              <a:gd name="adj" fmla="val 9302"/>
            </a:avLst>
          </a:prstGeom>
          <a:solidFill>
            <a:srgbClr val="25241F"/>
          </a:solidFill>
          <a:ln/>
        </p:spPr>
      </p:sp>
      <p:sp>
        <p:nvSpPr>
          <p:cNvPr id="29" name="Text 27"/>
          <p:cNvSpPr/>
          <p:nvPr/>
        </p:nvSpPr>
        <p:spPr>
          <a:xfrm>
            <a:off x="8522208" y="2596896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CC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일정 제목만 유독 선택지도 없이 막은 이유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22208" y="3072384"/>
            <a:ext cx="2670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30" dirty="0">
                <a:solidFill>
                  <a:srgbClr val="C9C4B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제목에는 ‘정형외과 진료’, ‘성당 모임’ 같은 것이 들어갑니다. 어떤 규칙을 만들어도 전부 걸러낼 수 없어, 아예 보내지 않습니다.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8266176" y="4133088"/>
            <a:ext cx="3182112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22208" y="433425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 자체 모델로 교체 가능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22208" y="4626864"/>
            <a:ext cx="2670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LLM 계층을 offline · local · Claude · OpenAI로 갈아 끼울 수 있게 분리했습니다. KB가 자체 모델을 운영하면 대화 기능을 그대로 두고 데이터가 KB 밖으로 나가지 않습니다.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749808" y="585216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웹 검색만 예외입니다. 돋보기를 켠 동안에만 그 문장 하나가 나가고, 일정 · 예산 · 카드 내역은 검색 요청에 포함되지 않습니다.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차별점 – 숫자 접지(Groundedness)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금액은 엔진이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,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문장은 LLM이</a:t>
            </a:r>
            <a:endParaRPr lang="en-US" sz="240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금융 앱에서 AI가 숫자를 지어내면 안 되기 때문입니다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3416" y="2432304"/>
            <a:ext cx="2121408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6296" y="261518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사용자 질문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6296" y="290779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폰에서 금융 의도로 변환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02256" y="3017520"/>
            <a:ext cx="164592" cy="0"/>
          </a:xfrm>
          <a:prstGeom prst="line">
            <a:avLst/>
          </a:prstGeom>
          <a:noFill/>
          <a:ln w="25400">
            <a:solidFill>
              <a:srgbClr val="E0A8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94280" y="2432304"/>
            <a:ext cx="2121408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77160" y="261518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결정론 엔진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77160" y="290779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예산 · 확률 · 혜택 계산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3120" y="3017520"/>
            <a:ext cx="164592" cy="0"/>
          </a:xfrm>
          <a:prstGeom prst="line">
            <a:avLst/>
          </a:prstGeom>
          <a:noFill/>
          <a:ln w="25400">
            <a:solidFill>
              <a:srgbClr val="E0A8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35144" y="2432304"/>
            <a:ext cx="2121408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8024" y="261518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LLM 문장 생성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8024" y="290779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스트리밍 대신 서버에서 버퍼링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83984" y="3017520"/>
            <a:ext cx="164592" cy="0"/>
          </a:xfrm>
          <a:prstGeom prst="line">
            <a:avLst/>
          </a:prstGeom>
          <a:noFill/>
          <a:ln w="25400">
            <a:solidFill>
              <a:srgbClr val="E0A8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76008" y="2432304"/>
            <a:ext cx="2121408" cy="1170432"/>
          </a:xfrm>
          <a:prstGeom prst="roundRect">
            <a:avLst>
              <a:gd name="adj" fmla="val 12500"/>
            </a:avLst>
          </a:prstGeom>
          <a:solidFill>
            <a:srgbClr val="25241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58888" y="261518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groundedness 검증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58888" y="290779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4B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엔진이 내지 않은 숫자 탐지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24848" y="3017520"/>
            <a:ext cx="164592" cy="0"/>
          </a:xfrm>
          <a:prstGeom prst="line">
            <a:avLst/>
          </a:prstGeom>
          <a:noFill/>
          <a:ln w="25400">
            <a:solidFill>
              <a:srgbClr val="E0A8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16872" y="2432304"/>
            <a:ext cx="2121408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99752" y="261518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화면 표시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99752" y="290779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검증을 통과한 뒤에만 전송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3950208"/>
            <a:ext cx="5431536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42416" y="41513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검증 규칙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2416" y="44988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허용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27632" y="4498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12,000원 + 8,000원 = 20,000원 — 준 숫자로 계산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2416" y="49011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허용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27632" y="49011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118,500원을 “약 12만원”으로 — 반올림 값 자체를 명단에 포함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42416" y="5303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454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차단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27632" y="53035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125,000원 — 엔진 데이터 어디에도 없는 값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55664" y="3950208"/>
            <a:ext cx="4992624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48272" y="41513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걸렸을 때의 처리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48272" y="4480560"/>
            <a:ext cx="44074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B4540A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1~2개  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그 숫자 옆에만 ‘(확인 필요)’를 붙입니다. 틀린 숫자 하나 때문에 맞는 문장까지 지우지 않습니다.
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D6454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3개 이상  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응답을 버리고 결정론 템플릿 문장으로 대체합니다.
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공통  </a:t>
            </a:r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표시했든 대체했든 평가 점수에는 모델 실패로 그대로 집계합니다. 안전 폴백과 모델 품질을 같은 100%로 포장하지 않습니다.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실현 가능성 – 기술적 구현 · 배포 구성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개인정보는 기기에 남기고,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서버는 상태를 갖지 않습니다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원본은 기기 밖으로 나가지 않습니다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2157984"/>
            <a:ext cx="3108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예산 계산 · 금액 추정 · 영수증 OCR · 음성 인식은 전부 폰 안에서 끝납니다. 이름 · 나이 · 질문 원문 · 일정 제목은 서버 요청 스키마에 받는 필드조차 만들지 않았습니다.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33467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서버는 상태를 갖지 않습니다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3675888"/>
            <a:ext cx="3108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Cloud Run 에 컨테이너 하나만 올리고 사용자 데이터베이스는 만들지 않습니다. 요청에 실려 온 값으로 계산하고 끝내므로, 유출될 축적 데이터가 존재하지 않습니다.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4864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언어 모델은 갈아 끼울 수 있습니다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5193792"/>
            <a:ext cx="3108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기본값 offline 은 외부 호출이 0입니다. local · Claude · OpenAI 가 같은 인터페이스를 쓰기 때문에, KB 자체 모델이 준비되면 대화 기능을 그대로 둔 채 대체됩니다.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783080"/>
            <a:ext cx="2057400" cy="3611880"/>
          </a:xfrm>
          <a:prstGeom prst="roundRect">
            <a:avLst>
              <a:gd name="adj" fmla="val 2667"/>
            </a:avLst>
          </a:prstGeom>
          <a:ln w="12700">
            <a:solidFill>
              <a:srgbClr val="C4BFB2"/>
            </a:solidFill>
            <a:prstDash val="dash"/>
          </a:ln>
        </p:spPr>
      </p:sp>
      <p:pic>
        <p:nvPicPr>
          <p:cNvPr id="11" name="Image 0" descr="/root/kb/ico/FaMobileScreen-7471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1901952"/>
            <a:ext cx="155448" cy="1554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53712" y="1865376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사용자 기기 · iOS</a:t>
            </a:r>
            <a:endParaRPr lang="en-US" sz="950" dirty="0"/>
          </a:p>
        </p:txBody>
      </p:sp>
      <p:pic>
        <p:nvPicPr>
          <p:cNvPr id="13" name="Image 1" descr="/root/kb/ico/SiSwift-F051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636" y="215798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24871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 Tune 앱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4251960" y="2688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SwiftUI · iOS 26.5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234940" y="2871216"/>
            <a:ext cx="0" cy="201168"/>
          </a:xfrm>
          <a:prstGeom prst="line">
            <a:avLst/>
          </a:prstGeom>
          <a:noFill/>
          <a:ln w="22225">
            <a:solidFill>
              <a:srgbClr val="E0A800"/>
            </a:solidFill>
            <a:prstDash val="solid"/>
            <a:tailEnd type="triangle"/>
          </a:ln>
        </p:spPr>
      </p:sp>
      <p:pic>
        <p:nvPicPr>
          <p:cNvPr id="17" name="Image 2" descr="/root/kb/ico/FaCalculator-74716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6" y="307238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43400" y="34015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BudgetEngine</a:t>
            </a:r>
            <a:endParaRPr lang="en-US" sz="980" dirty="0"/>
          </a:p>
        </p:txBody>
      </p:sp>
      <p:sp>
        <p:nvSpPr>
          <p:cNvPr id="19" name="Text 14"/>
          <p:cNvSpPr/>
          <p:nvPr/>
        </p:nvSpPr>
        <p:spPr>
          <a:xfrm>
            <a:off x="4251960" y="36027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결정론 계산 · 오프라인 동작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234940" y="3785616"/>
            <a:ext cx="0" cy="201168"/>
          </a:xfrm>
          <a:prstGeom prst="line">
            <a:avLst/>
          </a:prstGeom>
          <a:noFill/>
          <a:ln w="22225">
            <a:solidFill>
              <a:srgbClr val="E0A800"/>
            </a:solidFill>
            <a:prstDash val="solid"/>
            <a:tailEnd type="triangle"/>
          </a:ln>
        </p:spPr>
      </p:sp>
      <p:pic>
        <p:nvPicPr>
          <p:cNvPr id="21" name="Image 3" descr="/root/kb/ico/FaLock-3F8A5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636" y="398678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43400" y="4315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LocalStore</a:t>
            </a:r>
            <a:endParaRPr lang="en-US" sz="980" dirty="0"/>
          </a:p>
        </p:txBody>
      </p:sp>
      <p:sp>
        <p:nvSpPr>
          <p:cNvPr id="23" name="Text 17"/>
          <p:cNvSpPr/>
          <p:nvPr/>
        </p:nvSpPr>
        <p:spPr>
          <a:xfrm>
            <a:off x="4251960" y="45171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암호화 · 백업 제외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297680" y="490118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F8A55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EventKit · Vision OCR · 음성 인식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F8A55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전부 온디바이스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318504" y="2788920"/>
            <a:ext cx="530352" cy="0"/>
          </a:xfrm>
          <a:prstGeom prst="line">
            <a:avLst/>
          </a:prstGeom>
          <a:noFill/>
          <a:ln w="22225">
            <a:solidFill>
              <a:srgbClr val="E0A800"/>
            </a:solidFill>
            <a:prstDash val="solid"/>
            <a:tailEnd type="triangle"/>
          </a:ln>
        </p:spPr>
      </p:sp>
      <p:sp>
        <p:nvSpPr>
          <p:cNvPr id="26" name="Text 20"/>
          <p:cNvSpPr/>
          <p:nvPr/>
        </p:nvSpPr>
        <p:spPr>
          <a:xfrm>
            <a:off x="6208776" y="231343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HTTPS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X-API-Key</a:t>
            </a:r>
            <a:endParaRPr lang="en-US" sz="750" dirty="0"/>
          </a:p>
        </p:txBody>
      </p:sp>
      <p:sp>
        <p:nvSpPr>
          <p:cNvPr id="27" name="Shape 21"/>
          <p:cNvSpPr/>
          <p:nvPr/>
        </p:nvSpPr>
        <p:spPr>
          <a:xfrm>
            <a:off x="6903720" y="1783080"/>
            <a:ext cx="2514600" cy="4069080"/>
          </a:xfrm>
          <a:prstGeom prst="roundRect">
            <a:avLst>
              <a:gd name="adj" fmla="val 2182"/>
            </a:avLst>
          </a:prstGeom>
          <a:ln w="12700">
            <a:solidFill>
              <a:srgbClr val="C4BFB2"/>
            </a:solidFill>
            <a:prstDash val="dash"/>
          </a:ln>
        </p:spPr>
      </p:sp>
      <p:pic>
        <p:nvPicPr>
          <p:cNvPr id="28" name="Image 4" descr="/root/kb/ico/SiGooglecloud-74716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36" y="1901952"/>
            <a:ext cx="155448" cy="1554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51192" y="1865376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Google Cloud · asia-northeast3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040880" y="2157984"/>
            <a:ext cx="2240280" cy="1316736"/>
          </a:xfrm>
          <a:prstGeom prst="roundRect">
            <a:avLst>
              <a:gd name="adj" fmla="val 6250"/>
            </a:avLst>
          </a:prstGeom>
          <a:solidFill>
            <a:srgbClr val="FFF7CF"/>
          </a:solidFill>
          <a:ln w="12700">
            <a:solidFill>
              <a:srgbClr val="FFCC00"/>
            </a:solidFill>
            <a:prstDash val="solid"/>
          </a:ln>
        </p:spPr>
      </p:sp>
      <p:pic>
        <p:nvPicPr>
          <p:cNvPr id="31" name="Image 5" descr="/root/kb/ico/SiFastapi-00968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2267712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6640" y="22494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Cloud Run · FastAPI</a:t>
            </a:r>
            <a:endParaRPr lang="en-US" sz="980" dirty="0"/>
          </a:p>
        </p:txBody>
      </p:sp>
      <p:sp>
        <p:nvSpPr>
          <p:cNvPr id="33" name="Shape 25"/>
          <p:cNvSpPr/>
          <p:nvPr/>
        </p:nvSpPr>
        <p:spPr>
          <a:xfrm>
            <a:off x="7187184" y="2642616"/>
            <a:ext cx="64008" cy="64008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34" name="Text 26"/>
          <p:cNvSpPr/>
          <p:nvPr/>
        </p:nvSpPr>
        <p:spPr>
          <a:xfrm>
            <a:off x="7315200" y="256032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655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보안 계층 — 인증 · 속도 제한</a:t>
            </a:r>
            <a:endParaRPr lang="en-US" sz="820" dirty="0"/>
          </a:p>
        </p:txBody>
      </p:sp>
      <p:sp>
        <p:nvSpPr>
          <p:cNvPr id="35" name="Shape 27"/>
          <p:cNvSpPr/>
          <p:nvPr/>
        </p:nvSpPr>
        <p:spPr>
          <a:xfrm>
            <a:off x="7187184" y="2926080"/>
            <a:ext cx="64008" cy="64008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36" name="Text 28"/>
          <p:cNvSpPr/>
          <p:nvPr/>
        </p:nvSpPr>
        <p:spPr>
          <a:xfrm>
            <a:off x="7315200" y="284378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655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결정론 엔진 — 예산 · 확률 · 예측</a:t>
            </a:r>
            <a:endParaRPr lang="en-US" sz="820" dirty="0"/>
          </a:p>
        </p:txBody>
      </p:sp>
      <p:sp>
        <p:nvSpPr>
          <p:cNvPr id="37" name="Shape 29"/>
          <p:cNvSpPr/>
          <p:nvPr/>
        </p:nvSpPr>
        <p:spPr>
          <a:xfrm>
            <a:off x="7187184" y="3209544"/>
            <a:ext cx="64008" cy="64008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38" name="Text 30"/>
          <p:cNvSpPr/>
          <p:nvPr/>
        </p:nvSpPr>
        <p:spPr>
          <a:xfrm>
            <a:off x="7315200" y="312724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655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groundedness 검증</a:t>
            </a:r>
            <a:endParaRPr lang="en-US" sz="820" dirty="0"/>
          </a:p>
        </p:txBody>
      </p:sp>
      <p:sp>
        <p:nvSpPr>
          <p:cNvPr id="39" name="Shape 31"/>
          <p:cNvSpPr/>
          <p:nvPr/>
        </p:nvSpPr>
        <p:spPr>
          <a:xfrm>
            <a:off x="8161020" y="3511296"/>
            <a:ext cx="0" cy="201168"/>
          </a:xfrm>
          <a:prstGeom prst="line">
            <a:avLst/>
          </a:prstGeom>
          <a:noFill/>
          <a:ln w="22225">
            <a:solidFill>
              <a:srgbClr val="E0A800"/>
            </a:solidFill>
            <a:prstDash val="solid"/>
            <a:tailEnd type="triangle"/>
          </a:ln>
        </p:spPr>
      </p:sp>
      <p:sp>
        <p:nvSpPr>
          <p:cNvPr id="40" name="Text 32"/>
          <p:cNvSpPr/>
          <p:nvPr/>
        </p:nvSpPr>
        <p:spPr>
          <a:xfrm>
            <a:off x="8243316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기준 금액 읽기 · 쓰기 없음</a:t>
            </a:r>
            <a:endParaRPr lang="en-US" sz="750" dirty="0"/>
          </a:p>
        </p:txBody>
      </p:sp>
      <p:pic>
        <p:nvPicPr>
          <p:cNvPr id="41" name="Image 6" descr="/root/kb/ico/SiFirebase-FFA00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4716" y="3712464"/>
            <a:ext cx="292608" cy="29260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040880" y="40416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Firestore</a:t>
            </a:r>
            <a:endParaRPr lang="en-US" sz="980" dirty="0"/>
          </a:p>
        </p:txBody>
      </p:sp>
      <p:sp>
        <p:nvSpPr>
          <p:cNvPr id="43" name="Text 34"/>
          <p:cNvSpPr/>
          <p:nvPr/>
        </p:nvSpPr>
        <p:spPr>
          <a:xfrm>
            <a:off x="6949440" y="42428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공표 통계 기준 금액 · 읽기 전용</a:t>
            </a:r>
            <a:endParaRPr lang="en-US" sz="800" dirty="0"/>
          </a:p>
        </p:txBody>
      </p:sp>
      <p:pic>
        <p:nvPicPr>
          <p:cNvPr id="44" name="Image 7" descr="/root/kb/ico/FaKey-74716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4716" y="4626864"/>
            <a:ext cx="292608" cy="29260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040880" y="49560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Secret Manager</a:t>
            </a:r>
            <a:endParaRPr lang="en-US" sz="980" dirty="0"/>
          </a:p>
        </p:txBody>
      </p:sp>
      <p:sp>
        <p:nvSpPr>
          <p:cNvPr id="46" name="Text 36"/>
          <p:cNvSpPr/>
          <p:nvPr/>
        </p:nvSpPr>
        <p:spPr>
          <a:xfrm>
            <a:off x="6949440" y="51572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OpenAI 키 · API 키 보관</a:t>
            </a:r>
            <a:endParaRPr lang="en-US" sz="800" dirty="0"/>
          </a:p>
        </p:txBody>
      </p:sp>
      <p:sp>
        <p:nvSpPr>
          <p:cNvPr id="47" name="Shape 37"/>
          <p:cNvSpPr/>
          <p:nvPr/>
        </p:nvSpPr>
        <p:spPr>
          <a:xfrm>
            <a:off x="7040880" y="546811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25241F"/>
          </a:solidFill>
          <a:ln/>
        </p:spPr>
      </p:sp>
      <p:sp>
        <p:nvSpPr>
          <p:cNvPr id="48" name="Text 38"/>
          <p:cNvSpPr/>
          <p:nvPr/>
        </p:nvSpPr>
        <p:spPr>
          <a:xfrm>
            <a:off x="7040880" y="5468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CC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사용자 데이터베이스 없음</a:t>
            </a:r>
            <a:endParaRPr lang="en-US" sz="850" dirty="0"/>
          </a:p>
        </p:txBody>
      </p:sp>
      <p:sp>
        <p:nvSpPr>
          <p:cNvPr id="49" name="Shape 39"/>
          <p:cNvSpPr/>
          <p:nvPr/>
        </p:nvSpPr>
        <p:spPr>
          <a:xfrm>
            <a:off x="9473184" y="2788920"/>
            <a:ext cx="438912" cy="0"/>
          </a:xfrm>
          <a:prstGeom prst="line">
            <a:avLst/>
          </a:prstGeom>
          <a:noFill/>
          <a:ln w="22225">
            <a:solidFill>
              <a:srgbClr val="E0A800"/>
            </a:solidFill>
            <a:prstDash val="solid"/>
            <a:tailEnd type="triangle"/>
          </a:ln>
        </p:spPr>
      </p:sp>
      <p:sp>
        <p:nvSpPr>
          <p:cNvPr id="50" name="Text 40"/>
          <p:cNvSpPr/>
          <p:nvPr/>
        </p:nvSpPr>
        <p:spPr>
          <a:xfrm>
            <a:off x="9363456" y="2313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집계값만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전달</a:t>
            </a:r>
            <a:endParaRPr lang="en-US" sz="750" dirty="0"/>
          </a:p>
        </p:txBody>
      </p:sp>
      <p:sp>
        <p:nvSpPr>
          <p:cNvPr id="51" name="Shape 41"/>
          <p:cNvSpPr/>
          <p:nvPr/>
        </p:nvSpPr>
        <p:spPr>
          <a:xfrm>
            <a:off x="9966960" y="1783080"/>
            <a:ext cx="1554480" cy="3108960"/>
          </a:xfrm>
          <a:prstGeom prst="roundRect">
            <a:avLst>
              <a:gd name="adj" fmla="val 3529"/>
            </a:avLst>
          </a:prstGeom>
          <a:ln w="12700">
            <a:solidFill>
              <a:srgbClr val="C4BFB2"/>
            </a:solidFill>
            <a:prstDash val="dash"/>
          </a:ln>
        </p:spPr>
      </p:sp>
      <p:sp>
        <p:nvSpPr>
          <p:cNvPr id="52" name="Text 42"/>
          <p:cNvSpPr/>
          <p:nvPr/>
        </p:nvSpPr>
        <p:spPr>
          <a:xfrm>
            <a:off x="10094976" y="186537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언어 모델</a:t>
            </a:r>
            <a:endParaRPr lang="en-US" sz="950" dirty="0"/>
          </a:p>
        </p:txBody>
      </p:sp>
      <p:sp>
        <p:nvSpPr>
          <p:cNvPr id="53" name="Shape 43"/>
          <p:cNvSpPr/>
          <p:nvPr/>
        </p:nvSpPr>
        <p:spPr>
          <a:xfrm>
            <a:off x="10076688" y="2157984"/>
            <a:ext cx="1325880" cy="347472"/>
          </a:xfrm>
          <a:prstGeom prst="roundRect">
            <a:avLst>
              <a:gd name="adj" fmla="val 23684"/>
            </a:avLst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10076688" y="215798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offline  기본값</a:t>
            </a:r>
            <a:endParaRPr lang="en-US" sz="830" dirty="0"/>
          </a:p>
        </p:txBody>
      </p:sp>
      <p:sp>
        <p:nvSpPr>
          <p:cNvPr id="55" name="Shape 45"/>
          <p:cNvSpPr/>
          <p:nvPr/>
        </p:nvSpPr>
        <p:spPr>
          <a:xfrm>
            <a:off x="10076688" y="2578608"/>
            <a:ext cx="1325880" cy="347472"/>
          </a:xfrm>
          <a:prstGeom prst="roundRect">
            <a:avLst>
              <a:gd name="adj" fmla="val 23684"/>
            </a:avLst>
          </a:prstGeom>
          <a:solidFill>
            <a:srgbClr val="FBFAF7"/>
          </a:solidFill>
          <a:ln w="12700">
            <a:solidFill>
              <a:srgbClr val="E6E2D8"/>
            </a:solidFill>
            <a:prstDash val="solid"/>
          </a:ln>
        </p:spPr>
      </p:sp>
      <p:pic>
        <p:nvPicPr>
          <p:cNvPr id="56" name="Image 8" descr="/root/kb/ico/SiOllama-74716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8128" y="2679192"/>
            <a:ext cx="146304" cy="146304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0387584" y="25786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local · Ollama</a:t>
            </a:r>
            <a:endParaRPr lang="en-US" sz="830" dirty="0"/>
          </a:p>
        </p:txBody>
      </p:sp>
      <p:sp>
        <p:nvSpPr>
          <p:cNvPr id="58" name="Shape 47"/>
          <p:cNvSpPr/>
          <p:nvPr/>
        </p:nvSpPr>
        <p:spPr>
          <a:xfrm>
            <a:off x="10076688" y="2999232"/>
            <a:ext cx="1325880" cy="347472"/>
          </a:xfrm>
          <a:prstGeom prst="roundRect">
            <a:avLst>
              <a:gd name="adj" fmla="val 23684"/>
            </a:avLst>
          </a:prstGeom>
          <a:solidFill>
            <a:srgbClr val="FBFAF7"/>
          </a:solidFill>
          <a:ln w="12700">
            <a:solidFill>
              <a:srgbClr val="E6E2D8"/>
            </a:solidFill>
            <a:prstDash val="solid"/>
          </a:ln>
        </p:spPr>
      </p:sp>
      <p:pic>
        <p:nvPicPr>
          <p:cNvPr id="59" name="Image 9" descr="/root/kb/ico/SiAnthropic-D97757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8128" y="3099816"/>
            <a:ext cx="146304" cy="146304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10387584" y="29992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Claude API</a:t>
            </a:r>
            <a:endParaRPr lang="en-US" sz="830" dirty="0"/>
          </a:p>
        </p:txBody>
      </p:sp>
      <p:sp>
        <p:nvSpPr>
          <p:cNvPr id="61" name="Shape 49"/>
          <p:cNvSpPr/>
          <p:nvPr/>
        </p:nvSpPr>
        <p:spPr>
          <a:xfrm>
            <a:off x="10076688" y="3419856"/>
            <a:ext cx="1325880" cy="347472"/>
          </a:xfrm>
          <a:prstGeom prst="roundRect">
            <a:avLst>
              <a:gd name="adj" fmla="val 23684"/>
            </a:avLst>
          </a:prstGeom>
          <a:solidFill>
            <a:srgbClr val="FBFAF7"/>
          </a:solidFill>
          <a:ln w="12700">
            <a:solidFill>
              <a:srgbClr val="E6E2D8"/>
            </a:solidFill>
            <a:prstDash val="solid"/>
          </a:ln>
        </p:spPr>
      </p:sp>
      <p:pic>
        <p:nvPicPr>
          <p:cNvPr id="62" name="Image 10" descr="/root/kb/ico/SiOpenai-41299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8128" y="3520440"/>
            <a:ext cx="146304" cy="146304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10387584" y="341985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OpenAI API</a:t>
            </a:r>
            <a:endParaRPr lang="en-US" sz="830" dirty="0"/>
          </a:p>
        </p:txBody>
      </p:sp>
      <p:sp>
        <p:nvSpPr>
          <p:cNvPr id="64" name="Shape 51"/>
          <p:cNvSpPr/>
          <p:nvPr/>
        </p:nvSpPr>
        <p:spPr>
          <a:xfrm>
            <a:off x="10076688" y="3840480"/>
            <a:ext cx="1325880" cy="347472"/>
          </a:xfrm>
          <a:prstGeom prst="roundRect">
            <a:avLst>
              <a:gd name="adj" fmla="val 23684"/>
            </a:avLst>
          </a:prstGeom>
          <a:solidFill>
            <a:srgbClr val="EEF5EC"/>
          </a:solidFill>
          <a:ln w="12700">
            <a:solidFill>
              <a:srgbClr val="EEF5EC"/>
            </a:solidFill>
            <a:prstDash val="solid"/>
          </a:ln>
        </p:spPr>
      </p:sp>
      <p:sp>
        <p:nvSpPr>
          <p:cNvPr id="65" name="Text 52"/>
          <p:cNvSpPr/>
          <p:nvPr/>
        </p:nvSpPr>
        <p:spPr>
          <a:xfrm>
            <a:off x="10076688" y="3840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 자체 모델</a:t>
            </a:r>
            <a:endParaRPr lang="en-US" sz="830" dirty="0"/>
          </a:p>
        </p:txBody>
      </p:sp>
      <p:sp>
        <p:nvSpPr>
          <p:cNvPr id="66" name="Text 53"/>
          <p:cNvSpPr/>
          <p:nvPr/>
        </p:nvSpPr>
        <p:spPr>
          <a:xfrm>
            <a:off x="10012680" y="43342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F8A55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무엇을 고르든 실패하면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F8A55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템플릿 응답으로 폴백</a:t>
            </a:r>
            <a:endParaRPr lang="en-US" sz="750" dirty="0"/>
          </a:p>
        </p:txBody>
      </p:sp>
      <p:sp>
        <p:nvSpPr>
          <p:cNvPr id="67" name="Shape 54"/>
          <p:cNvSpPr/>
          <p:nvPr/>
        </p:nvSpPr>
        <p:spPr>
          <a:xfrm>
            <a:off x="9966960" y="5074920"/>
            <a:ext cx="1554480" cy="685800"/>
          </a:xfrm>
          <a:prstGeom prst="roundRect">
            <a:avLst>
              <a:gd name="adj" fmla="val 8000"/>
            </a:avLst>
          </a:prstGeom>
          <a:ln w="12700">
            <a:solidFill>
              <a:srgbClr val="C4BFB2"/>
            </a:solidFill>
            <a:prstDash val="dash"/>
          </a:ln>
        </p:spPr>
      </p:sp>
      <p:pic>
        <p:nvPicPr>
          <p:cNvPr id="68" name="Image 11" descr="/root/kb/ico/SiDocker-2496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4976" y="5193792"/>
            <a:ext cx="155448" cy="155448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10314432" y="515721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배포 파이프라인</a:t>
            </a:r>
            <a:endParaRPr lang="en-US" sz="950" dirty="0"/>
          </a:p>
        </p:txBody>
      </p:sp>
      <p:sp>
        <p:nvSpPr>
          <p:cNvPr id="70" name="Text 56"/>
          <p:cNvSpPr/>
          <p:nvPr/>
        </p:nvSpPr>
        <p:spPr>
          <a:xfrm>
            <a:off x="10040112" y="535838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gcloud run deploy --source</a:t>
            </a:r>
            <a:endParaRPr lang="en-US" sz="7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→ Cloud Build → Artifact Registry</a:t>
            </a:r>
            <a:endParaRPr lang="en-US" sz="730" dirty="0"/>
          </a:p>
        </p:txBody>
      </p:sp>
      <p:sp>
        <p:nvSpPr>
          <p:cNvPr id="71" name="Text 57"/>
          <p:cNvSpPr/>
          <p:nvPr/>
        </p:nvSpPr>
        <p:spPr>
          <a:xfrm>
            <a:off x="4206240" y="60167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기기 경계를 넘는 것은 날짜 · 유형 · 금액과 예산 집계값뿐입니다. 일정 제목 · 질문 원문 · 이름 · 나이 · OCR 원본은 서버 요청 스키마에 아예 없습니다.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실현 가능성 – 구현 · 검증 증빙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기획서가 아니라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돌아가는 앱과 통과한 테스트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로 증명합니다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0848" y="2340864"/>
            <a:ext cx="265176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8592" y="248716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57 / 57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8592" y="30540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FastAPI 엔진 · AI · 보안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8592" y="331012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pytest -q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06928" y="2340864"/>
            <a:ext cx="265176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4672" y="248716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61 / 61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44672" y="30540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iOS 단위 테스트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44672" y="331012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XCTest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3008" y="2340864"/>
            <a:ext cx="265176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0752" y="248716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2 / 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70752" y="30540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최종 핵심 UI 시나리오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70752" y="331012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XCUITest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59088" y="2340864"/>
            <a:ext cx="265176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96832" y="248716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11장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396832" y="30540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자동 캡처 화면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96832" y="331012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testCaptureAllScreens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" y="4041648"/>
            <a:ext cx="5431536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42416" y="42428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스크린샷도 사람이 찍지 않습니다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42416" y="4572000"/>
            <a:ext cx="48463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문서에 실린 화면은 UI 테스트가 앱을 켜서 탭을 돌며 캡처합니다. 화면이 바뀌면 스크린샷도 같이 바뀌기 때문에, 제안서의 그림과 실제 빌드가 어긋날 수 없습니다.</a:t>
            </a:r>
            <a:endParaRPr lang="en-US" sz="1100" dirty="0"/>
          </a:p>
          <a:p>
            <a:pPr indent="0" marL="0">
              <a:lnSpc>
                <a:spcPct val="136000"/>
              </a:lnSpc>
              <a:buNone/>
            </a:pPr>
            <a:endParaRPr lang="en-US" sz="11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금액은 iOS BudgetEngine · 백엔드 app/data.py · 양쪽 테스트가 같은 값을 보도록 잠가 두었습니다.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55664" y="4041648"/>
            <a:ext cx="4992624" cy="1828800"/>
          </a:xfrm>
          <a:prstGeom prst="roundRect">
            <a:avLst>
              <a:gd name="adj" fmla="val 8000"/>
            </a:avLst>
          </a:prstGeom>
          <a:solidFill>
            <a:srgbClr val="FBEEE2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42428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40A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제출 시점에 밝히는 한계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48272" y="4572000"/>
            <a:ext cx="44074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A5A3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KB Pay 실데이터 연동은 데모 범위이며 운영 연동으로 표현하지 않습니다.</a:t>
            </a: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A5A3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예측은 개인 이력 기반 결정론 모델입니다. 장기 시계열 AI라고 과장하지 않습니다.</a:t>
            </a: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A5A3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전체 UI 스위트 단일 재실행 전이므로 ‘UI 100%’라고 주장하지 않습니다.</a:t>
            </a: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A5A3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실사용자 홀드아웃 MAE / MAPE 검증은 다음 단계입니다.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실현 가능성 – 시연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일정이 바뀌면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숫자가 그 자리에서 다시 계산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27155" y="2235708"/>
            <a:ext cx="1623091" cy="3410712"/>
          </a:xfrm>
          <a:prstGeom prst="roundRect">
            <a:avLst>
              <a:gd name="adj" fmla="val 7887"/>
            </a:avLst>
          </a:prstGeom>
          <a:solidFill>
            <a:srgbClr val="FFFFFF"/>
          </a:solidFill>
          <a:ln w="12700">
            <a:solidFill>
              <a:srgbClr val="E6E2D8"/>
            </a:solidFill>
            <a:prstDash val="solid"/>
          </a:ln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pic>
        <p:nvPicPr>
          <p:cNvPr id="5" name="Image 0" descr="/root/kb/r/budget-posi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47" y="2286000"/>
            <a:ext cx="1522507" cy="33101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54652" y="5705856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EF5EC"/>
          </a:solidFill>
          <a:ln/>
        </p:spPr>
      </p:sp>
      <p:sp>
        <p:nvSpPr>
          <p:cNvPr id="7" name="Text 4"/>
          <p:cNvSpPr/>
          <p:nvPr/>
        </p:nvSpPr>
        <p:spPr>
          <a:xfrm>
            <a:off x="1354652" y="570585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여유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6551" y="6035040"/>
            <a:ext cx="2144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일정을 넣어도 목표를 지킬 수 있는 상태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06862" y="2235708"/>
            <a:ext cx="1623091" cy="3410712"/>
          </a:xfrm>
          <a:prstGeom prst="roundRect">
            <a:avLst>
              <a:gd name="adj" fmla="val 7887"/>
            </a:avLst>
          </a:prstGeom>
          <a:solidFill>
            <a:srgbClr val="FFFFFF"/>
          </a:solidFill>
          <a:ln w="12700">
            <a:solidFill>
              <a:srgbClr val="E6E2D8"/>
            </a:solidFill>
            <a:prstDash val="solid"/>
          </a:ln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pic>
        <p:nvPicPr>
          <p:cNvPr id="10" name="Image 1" descr="/root/kb/r/budget-z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154" y="2286000"/>
            <a:ext cx="1522507" cy="331012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4360" y="5705856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FF7CF"/>
          </a:solidFill>
          <a:ln/>
        </p:spPr>
      </p:sp>
      <p:sp>
        <p:nvSpPr>
          <p:cNvPr id="12" name="Text 8"/>
          <p:cNvSpPr/>
          <p:nvPr/>
        </p:nvSpPr>
        <p:spPr>
          <a:xfrm>
            <a:off x="3334360" y="570585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40A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0원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646258" y="6035040"/>
            <a:ext cx="2144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이번 주 추가 지출 여유가 없는 상태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86569" y="2235708"/>
            <a:ext cx="1623091" cy="3410712"/>
          </a:xfrm>
          <a:prstGeom prst="roundRect">
            <a:avLst>
              <a:gd name="adj" fmla="val 7887"/>
            </a:avLst>
          </a:prstGeom>
          <a:solidFill>
            <a:srgbClr val="FFFFFF"/>
          </a:solidFill>
          <a:ln w="12700">
            <a:solidFill>
              <a:srgbClr val="E6E2D8"/>
            </a:solidFill>
            <a:prstDash val="solid"/>
          </a:ln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pic>
        <p:nvPicPr>
          <p:cNvPr id="15" name="Image 2" descr="/root/kb/r/budget-negat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861" y="2286000"/>
            <a:ext cx="1522507" cy="331012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314067" y="5705856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/>
        </p:spPr>
      </p:sp>
      <p:sp>
        <p:nvSpPr>
          <p:cNvPr id="17" name="Text 12"/>
          <p:cNvSpPr/>
          <p:nvPr/>
        </p:nvSpPr>
        <p:spPr>
          <a:xfrm>
            <a:off x="5314067" y="570585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454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초과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625965" y="6035040"/>
            <a:ext cx="2144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지난주 초과분이 이번 주로 이월된 상태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772400" y="2286000"/>
            <a:ext cx="3639312" cy="382219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046720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발표 시연 동선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046720" y="28712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0" y="2871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1248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일정 2건 추가 — 추가 전후 가능액 변화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046720" y="33284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25" name="Text 20"/>
          <p:cNvSpPr/>
          <p:nvPr/>
        </p:nvSpPr>
        <p:spPr>
          <a:xfrm>
            <a:off x="8046720" y="3328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41248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일정 금액 수정 · 1건 삭제 — 즉시 갱신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046720" y="37856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28" name="Text 23"/>
          <p:cNvSpPr/>
          <p:nvPr/>
        </p:nvSpPr>
        <p:spPr>
          <a:xfrm>
            <a:off x="8046720" y="3785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4124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분석 탭 — 최대 소비 항목과 반복 근거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046720" y="42428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31" name="Text 26"/>
          <p:cNvSpPr/>
          <p:nvPr/>
        </p:nvSpPr>
        <p:spPr>
          <a:xfrm>
            <a:off x="8046720" y="4242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41248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“오늘 7만원짜리 바지 사도 될까?”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046720" y="47000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34" name="Text 29"/>
          <p:cNvSpPr/>
          <p:nvPr/>
        </p:nvSpPr>
        <p:spPr>
          <a:xfrm>
            <a:off x="8046720" y="4700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841248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조정안으로 1건 다음 주 이동 — 금액 회복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046720" y="51572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37" name="Text 32"/>
          <p:cNvSpPr/>
          <p:nvPr/>
        </p:nvSpPr>
        <p:spPr>
          <a:xfrm>
            <a:off x="8046720" y="5157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841248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41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카드 · 적금 → KB 공식 안내로 연결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8046720" y="5504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오프라인 시연은 기기 안에서만 모드로 진행합니다. 네트워크가 없어도 같은 숫자가 나옵니다.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기대효과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고객 · KB · 사회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세 방향에서 효과가 맞물립니다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90576" y="2377440"/>
            <a:ext cx="3529584" cy="3602736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4896" y="2615184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FFF7CF"/>
          </a:solidFill>
          <a:ln/>
        </p:spPr>
      </p:sp>
      <p:sp>
        <p:nvSpPr>
          <p:cNvPr id="6" name="Text 4"/>
          <p:cNvSpPr/>
          <p:nvPr/>
        </p:nvSpPr>
        <p:spPr>
          <a:xfrm>
            <a:off x="764896" y="261518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고객 측면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4896" y="301752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“계산을 대신해 주는 금융”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4896" y="3639312"/>
            <a:ext cx="29809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이번 주에 써도 되는 금액을 숫자 하나로 확인해 머릿속 계산과 죄책감을 덜어냅니다.</a:t>
            </a: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줄이라고 하지 않고 무엇을 미루면 되는지 제안하므로, 목표를 포기하지 않고 지킬 수 있습니다.</a:t>
            </a: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개인정보가 기기를 떠나지 않아, 가장 민감한 소비 · 일정 데이터를 안심하고 맡길 수 있습니다.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1056" y="2377440"/>
            <a:ext cx="3529584" cy="3602736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5376" y="2615184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/>
        </p:spPr>
      </p:sp>
      <p:sp>
        <p:nvSpPr>
          <p:cNvPr id="11" name="Text 9"/>
          <p:cNvSpPr/>
          <p:nvPr/>
        </p:nvSpPr>
        <p:spPr>
          <a:xfrm>
            <a:off x="4605376" y="261518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 측면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05376" y="301752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“결제 이전 단계의 접점 확보”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5376" y="3639312"/>
            <a:ext cx="29809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결제가 끝난 뒤가 아니라 소비를 결정하는 순간에 KB가 등장합니다.</a:t>
            </a: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계획 → 근거 → 상품으로 이어지는 자연스러운 동선에서 카드 · 적금 전환이 발생합니다.</a:t>
            </a: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온디바이스 · 무상태 설계로 개인정보 리스크를 낮춘 채 AI 금융 사례를 확보합니다.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71536" y="2377440"/>
            <a:ext cx="3529584" cy="3602736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5856" y="2615184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FFF7CF"/>
          </a:solidFill>
          <a:ln/>
        </p:spPr>
      </p:sp>
      <p:sp>
        <p:nvSpPr>
          <p:cNvPr id="16" name="Text 14"/>
          <p:cNvSpPr/>
          <p:nvPr/>
        </p:nvSpPr>
        <p:spPr>
          <a:xfrm>
            <a:off x="8445856" y="261518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사회적 측면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45856" y="301752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“설명 가능한 AI 금융의 기준”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45856" y="3639312"/>
            <a:ext cx="29809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금액을 결정론 엔진이 계산하고 AI는 문장만 쓰는 구조를 공개해, 금융 AI의 허위 수치 문제에 실무적 해법을 제시합니다.</a:t>
            </a: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endParaRPr lang="en-US" sz="10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0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· 사회 초년생의 저축 습관 형성을 돕는 포용적 금융 도구로 기능합니다.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사업성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‘계획을 세우는 앱’이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KB의 주거래 진입점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이 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 flipV="1">
            <a:off x="1143000" y="4498848"/>
            <a:ext cx="9966960" cy="1481328"/>
          </a:xfrm>
          <a:prstGeom prst="line">
            <a:avLst/>
          </a:prstGeom>
          <a:noFill/>
          <a:ln w="44450">
            <a:solidFill>
              <a:srgbClr val="FFCC0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80848" y="3968496"/>
            <a:ext cx="2651760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8592" y="418795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7" name="Text 5"/>
          <p:cNvSpPr/>
          <p:nvPr/>
        </p:nvSpPr>
        <p:spPr>
          <a:xfrm>
            <a:off x="618592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7776" y="41513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소비 계획 진입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8592" y="4535424"/>
            <a:ext cx="21762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가계부보다 진입 장벽이 낮습니다. 캘린더 연동과 세 가지 질문만으로 시작하고, 상품 가입을 요구하지 않습니다.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306928" y="3493008"/>
            <a:ext cx="2651760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4672" y="371246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12" name="Text 10"/>
          <p:cNvSpPr/>
          <p:nvPr/>
        </p:nvSpPr>
        <p:spPr>
          <a:xfrm>
            <a:off x="3544672" y="3712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73856" y="3675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교차 판매 전환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4672" y="4059936"/>
            <a:ext cx="21762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계획을 세운 뒤 순혜택이 계산된 상태에서 카드 · 적금을 제시하므로, 광고가 아니라 결론으로 읽힙니다.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233008" y="3017520"/>
            <a:ext cx="2651760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70752" y="323697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70752" y="3236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9936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데이터 자산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0752" y="3584448"/>
            <a:ext cx="21762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일정 단위 소비 이력과 예측 오차가 쌓입니다. 개인정보 원본이 아닌 집계값이라 활용 부담이 낮습니다.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9159088" y="2542032"/>
            <a:ext cx="2651760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6832" y="276148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CC00"/>
          </a:solidFill>
          <a:ln/>
        </p:spPr>
      </p:sp>
      <p:sp>
        <p:nvSpPr>
          <p:cNvPr id="22" name="Text 20"/>
          <p:cNvSpPr/>
          <p:nvPr/>
        </p:nvSpPr>
        <p:spPr>
          <a:xfrm>
            <a:off x="9396832" y="2761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26016" y="2724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주거래 고착화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96832" y="3108960"/>
            <a:ext cx="21762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매주 열어야 할 이유가 있는 앱이 되면, 급여 이체 · 주택청약 · 대출로 이어지는 장기 접점이 확보됩니다.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749808" y="63276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쓰고 난 뒤의 기록이 아니라, 쓰기 전의 결정</a:t>
            </a:r>
            <a:pPr algn="ctr" indent="0" marL="0">
              <a:buNone/>
            </a:pPr>
            <a:r>
              <a:rPr lang="en-US" sz="120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 — KB Tune이 노리는 자리는 결제 이전 단계입니다.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20624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spc="40" kern="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다음 과제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다음 3개월, </a:t>
            </a:r>
            <a:pPr algn="ctr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25241F"/>
                </a:solidFill>
                <a:highlight>
                  <a:srgbClr val="FFF7CF"/>
                </a:highlight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무엇으로 증명할지까지 정해 두었습니다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0848" y="2377440"/>
            <a:ext cx="2651760" cy="3072384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8592" y="2615184"/>
            <a:ext cx="2176272" cy="475488"/>
          </a:xfrm>
          <a:prstGeom prst="roundRect">
            <a:avLst>
              <a:gd name="adj" fmla="val 25000"/>
            </a:avLst>
          </a:prstGeom>
          <a:solidFill>
            <a:srgbClr val="FFCC00"/>
          </a:solidFill>
          <a:ln/>
        </p:spPr>
      </p:sp>
      <p:sp>
        <p:nvSpPr>
          <p:cNvPr id="6" name="Text 4"/>
          <p:cNvSpPr/>
          <p:nvPr/>
        </p:nvSpPr>
        <p:spPr>
          <a:xfrm>
            <a:off x="783184" y="2615184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4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STEP 1   </a:t>
            </a:r>
            <a:pPr indent="0" marL="0">
              <a:buNone/>
            </a:pPr>
            <a:r>
              <a:rPr lang="en-US" sz="1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제출 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8592" y="32918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개인정보 카나리 · 숫자 접지 · 핵심 데모 회귀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8592" y="40965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완료 기준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8592" y="4352544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핵심 자동 테스트와 스크린샷 증빙을 고정한다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306928" y="2377440"/>
            <a:ext cx="2651760" cy="3072384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4672" y="2615184"/>
            <a:ext cx="2176272" cy="475488"/>
          </a:xfrm>
          <a:prstGeom prst="roundRect">
            <a:avLst>
              <a:gd name="adj" fmla="val 25000"/>
            </a:avLst>
          </a:prstGeom>
          <a:solidFill>
            <a:srgbClr val="FFF7CF"/>
          </a:solidFill>
          <a:ln/>
        </p:spPr>
      </p:sp>
      <p:sp>
        <p:nvSpPr>
          <p:cNvPr id="12" name="Text 10"/>
          <p:cNvSpPr/>
          <p:nvPr/>
        </p:nvSpPr>
        <p:spPr>
          <a:xfrm>
            <a:off x="3709264" y="2615184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STEP 2   </a:t>
            </a:r>
            <a:pPr indent="0" marL="0">
              <a:buNone/>
            </a:pPr>
            <a:r>
              <a:rPr lang="en-US" sz="1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1개월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44672" y="32918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시간 순 홀드아웃 예측 평가 · 카테고리별 오차 보정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44672" y="40965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완료 기준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44672" y="4352544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MAE / MAPE를 공개하고 단순 평균 기준선보다 개선한다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233008" y="2377440"/>
            <a:ext cx="2651760" cy="3072384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0752" y="2615184"/>
            <a:ext cx="2176272" cy="475488"/>
          </a:xfrm>
          <a:prstGeom prst="roundRect">
            <a:avLst>
              <a:gd name="adj" fmla="val 25000"/>
            </a:avLst>
          </a:prstGeom>
          <a:solidFill>
            <a:srgbClr val="FFF7CF"/>
          </a:solidFill>
          <a:ln/>
        </p:spPr>
      </p:sp>
      <p:sp>
        <p:nvSpPr>
          <p:cNvPr id="18" name="Text 16"/>
          <p:cNvSpPr/>
          <p:nvPr/>
        </p:nvSpPr>
        <p:spPr>
          <a:xfrm>
            <a:off x="6635344" y="2615184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STEP 3   </a:t>
            </a:r>
            <a:pPr indent="0" marL="0">
              <a:buNone/>
            </a:pPr>
            <a:r>
              <a:rPr lang="en-US" sz="1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2개월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70752" y="32918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 Pay 샌드박스 연동 · 토큰 기반 사용자 인증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0752" y="40965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완료 기준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70752" y="4352544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원본 미저장 · 동의 철회 즉시 반영 · 위협모델 리뷰 통과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9159088" y="2377440"/>
            <a:ext cx="2651760" cy="3072384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2A2822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96832" y="2615184"/>
            <a:ext cx="2176272" cy="475488"/>
          </a:xfrm>
          <a:prstGeom prst="roundRect">
            <a:avLst>
              <a:gd name="adj" fmla="val 25000"/>
            </a:avLst>
          </a:prstGeom>
          <a:solidFill>
            <a:srgbClr val="FFF7CF"/>
          </a:solidFill>
          <a:ln/>
        </p:spPr>
      </p:sp>
      <p:sp>
        <p:nvSpPr>
          <p:cNvPr id="24" name="Text 22"/>
          <p:cNvSpPr/>
          <p:nvPr/>
        </p:nvSpPr>
        <p:spPr>
          <a:xfrm>
            <a:off x="9561424" y="2615184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8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STEP 4   </a:t>
            </a:r>
            <a:pPr indent="0" marL="0">
              <a:buNone/>
            </a:pPr>
            <a:r>
              <a:rPr lang="en-US" sz="14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3개월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96832" y="329184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241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20명 파일럿 · 일정–거래 매칭 고도화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96832" y="40965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8A55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완료 기준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96832" y="4352544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03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일정 추가 성공률 · 예산 이해도 · 예측 오차를 측정한다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749808" y="572414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7168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각 단계의 완료 기준은 “구현했다”가 아니라 “무엇으로 확인했다”로 적었습니다.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5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6035040" cy="6035040"/>
          </a:xfrm>
          <a:prstGeom prst="ellipse">
            <a:avLst/>
          </a:prstGeom>
          <a:solidFill>
            <a:srgbClr val="FFCC0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657600"/>
            <a:ext cx="5303520" cy="5303520"/>
          </a:xfrm>
          <a:prstGeom prst="ellipse">
            <a:avLst/>
          </a:prstGeom>
          <a:solidFill>
            <a:srgbClr val="FFCC00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084832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C978C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가계부는 이미 쓴 돈만 보여줍니다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 Tune은 앞으로 쓸 돈을 미리 알려드립니다</a:t>
            </a:r>
            <a:endParaRPr lang="en-US" sz="1800" dirty="0"/>
          </a:p>
        </p:txBody>
      </p:sp>
      <p:pic>
        <p:nvPicPr>
          <p:cNvPr id="5" name="Image 0" descr="/root/kb/assets/mascot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896" y="3712464"/>
            <a:ext cx="813816" cy="786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9864" y="3712464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50" kern="0" dirty="0">
                <a:solidFill>
                  <a:srgbClr val="FFCC00"/>
                </a:solidFill>
                <a:latin typeface="KBFG Text Medium" pitchFamily="34" charset="0"/>
                <a:ea typeface="KBFG Text Medium" pitchFamily="34" charset="-122"/>
                <a:cs typeface="KBFG Text Medium" pitchFamily="34" charset="-120"/>
              </a:rPr>
              <a:t>KB Tune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488289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87F"/>
                </a:solidFill>
                <a:latin typeface="KBFG Text Light" pitchFamily="34" charset="0"/>
                <a:ea typeface="KBFG Text Light" pitchFamily="34" charset="-122"/>
                <a:cs typeface="KBFG Text Light" pitchFamily="34" charset="-120"/>
              </a:rPr>
              <a:t>KB AI Challenge 2026  ·  Team KB Tune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 Tune — KB AI Challenge 2026</dc:title>
  <dc:subject>PptxGenJS Presentation</dc:subject>
  <dc:creator>KB Tune</dc:creator>
  <cp:lastModifiedBy>KB Tune</cp:lastModifiedBy>
  <cp:revision>1</cp:revision>
  <dcterms:created xsi:type="dcterms:W3CDTF">2026-07-29T02:05:26Z</dcterms:created>
  <dcterms:modified xsi:type="dcterms:W3CDTF">2026-07-29T02:05:26Z</dcterms:modified>
</cp:coreProperties>
</file>