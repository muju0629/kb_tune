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muju0629/KB_Tune" TargetMode="External"/><Relationship Id="rId2" Type="http://schemas.openxmlformats.org/officeDocument/2006/relationships/image" Target="../media/image-1-1.png"/><Relationship Id="rId3" Type="http://schemas.openxmlformats.org/officeDocument/2006/relationships/image" Target="../media/image-1-2.png"/><Relationship Id="rId4" Type="http://schemas.openxmlformats.org/officeDocument/2006/relationships/image" Target="../media/image-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muju0629/KB_Tune" TargetMode="Externa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muju0629/KB_Tune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07208" y="914400"/>
            <a:ext cx="6583680" cy="6583680"/>
          </a:xfrm>
          <a:prstGeom prst="ellipse">
            <a:avLst/>
          </a:prstGeom>
          <a:solidFill>
            <a:srgbClr val="FFCC00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3995928" y="2103120"/>
            <a:ext cx="4206240" cy="4206240"/>
          </a:xfrm>
          <a:prstGeom prst="ellipse">
            <a:avLst/>
          </a:prstGeom>
          <a:solidFill>
            <a:srgbClr val="FFCC00">
              <a:alpha val="1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658368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AI Challenge 2026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961327" y="384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Team KB Tune</a:t>
            </a:r>
            <a:endParaRPr lang="en-US" sz="1350" dirty="0"/>
          </a:p>
        </p:txBody>
      </p:sp>
      <p:sp>
        <p:nvSpPr>
          <p:cNvPr id="6" name="Text 4">
            <a:hlinkClick r:id="rId1" tooltip=""/>
          </p:cNvPr>
          <p:cNvSpPr/>
          <p:nvPr/>
        </p:nvSpPr>
        <p:spPr>
          <a:xfrm>
            <a:off x="6961327" y="67665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u="sng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github.com/muju0629/KB_Tune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0" y="868680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일정 기반 AI 소비 계획 서비스 ‘KB Tune’ 제안서</a:t>
            </a:r>
            <a:endParaRPr lang="en-US" sz="1450" dirty="0"/>
          </a:p>
        </p:txBody>
      </p:sp>
      <p:pic>
        <p:nvPicPr>
          <p:cNvPr id="8" name="Image 0" descr="/root/kb/assets/mascot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6552" y="1280160"/>
            <a:ext cx="868680" cy="84124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358384" y="1280160"/>
            <a:ext cx="4023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spc="-60" kern="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</a:t>
            </a:r>
            <a:endParaRPr lang="en-US" sz="5200" dirty="0"/>
          </a:p>
        </p:txBody>
      </p:sp>
      <p:sp>
        <p:nvSpPr>
          <p:cNvPr id="10" name="Text 7"/>
          <p:cNvSpPr/>
          <p:nvPr/>
        </p:nvSpPr>
        <p:spPr>
          <a:xfrm>
            <a:off x="0" y="2249424"/>
            <a:ext cx="12191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가계부는 이미 쓴 돈만 보여줍니다.  </a:t>
            </a:r>
            <a:pPr algn="ctr" indent="0" marL="0">
              <a:buNone/>
            </a:pPr>
            <a:r>
              <a:rPr lang="en-US" sz="16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Tune은 앞으로 쓸 돈을 미리 알려드립니다.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411980" y="2692908"/>
            <a:ext cx="1698796" cy="3575304"/>
          </a:xfrm>
          <a:prstGeom prst="roundRect">
            <a:avLst>
              <a:gd name="adj" fmla="val 7536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12" name="Image 1" descr="/root/kb/r/s21-cha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272" y="2743200"/>
            <a:ext cx="1598212" cy="347472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5984748" y="2875788"/>
            <a:ext cx="1698796" cy="3575304"/>
          </a:xfrm>
          <a:prstGeom prst="roundRect">
            <a:avLst>
              <a:gd name="adj" fmla="val 7536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14" name="Image 2" descr="/root/kb/r/s10-weekly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2926080"/>
            <a:ext cx="1598212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822960" y="749808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Contents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142646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KB AI Challenge 2026 · KB Tune</a:t>
            </a:r>
            <a:endParaRPr lang="en-US" sz="1300" dirty="0"/>
          </a:p>
        </p:txBody>
      </p:sp>
      <p:pic>
        <p:nvPicPr>
          <p:cNvPr id="5" name="Image 0" descr="/root/kb/assets/mascot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892040"/>
            <a:ext cx="731520" cy="731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943600" y="10241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6656832" y="10241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9692640" y="10241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··· 3p ~ 6p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993392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02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656832" y="199339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서비스 제안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9692640" y="199339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··· 7p ~ 13p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943600" y="2962656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03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56832" y="2962656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차별점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9692640" y="2962656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··· 14p ~ 16p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5943600" y="39319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04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6656832" y="393192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실현 가능성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692640" y="393192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··· 17p ~ 19p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5943600" y="4901184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05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6656832" y="490118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기대효과 · 사업성 · 확장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692640" y="490118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··· 20p ~ 24p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01 제안 배경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‘AI에게 돈 관리를 맡기고 싶다’는 기대는 커졌지만</a:t>
            </a:r>
            <a:endParaRPr lang="en-US" sz="2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금융 챗봇의 경험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은 아직 그 기대를 따라가지 못합니다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64312" y="2395728"/>
            <a:ext cx="3401568" cy="30175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93496" y="2724912"/>
            <a:ext cx="548640" cy="548640"/>
          </a:xfrm>
          <a:prstGeom prst="ellipse">
            <a:avLst/>
          </a:prstGeom>
          <a:solidFill>
            <a:srgbClr val="FFF7CF"/>
          </a:solidFill>
          <a:ln/>
        </p:spPr>
      </p:sp>
      <p:pic>
        <p:nvPicPr>
          <p:cNvPr id="7" name="Image 0" descr="/root/kb/ico/FaWallet-8A6D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0656" y="2862072"/>
            <a:ext cx="274320" cy="2743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498952" y="276148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9" name="Text 6"/>
          <p:cNvSpPr/>
          <p:nvPr/>
        </p:nvSpPr>
        <p:spPr>
          <a:xfrm>
            <a:off x="3498952" y="2761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993496" y="34381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가계부는 기록에 멈춥니다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993496" y="3822192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3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결제가 끝난 뒤에 분류할 뿐, ‘이번 주에 얼마 더 써도 되는지’는 알려주지 않습니다.</a:t>
            </a:r>
            <a:endParaRPr lang="en-US" sz="1350" dirty="0"/>
          </a:p>
          <a:p>
            <a:pPr indent="0" marL="0">
              <a:lnSpc>
                <a:spcPct val="136000"/>
              </a:lnSpc>
              <a:buNone/>
            </a:pPr>
            <a:endParaRPr lang="en-US" sz="135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3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그래서 다들 쓰다 맙니다.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4395064" y="2395728"/>
            <a:ext cx="3401568" cy="30175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724248" y="2724912"/>
            <a:ext cx="548640" cy="548640"/>
          </a:xfrm>
          <a:prstGeom prst="ellipse">
            <a:avLst/>
          </a:prstGeom>
          <a:solidFill>
            <a:srgbClr val="FFF7CF"/>
          </a:solidFill>
          <a:ln/>
        </p:spPr>
      </p:sp>
      <p:pic>
        <p:nvPicPr>
          <p:cNvPr id="14" name="Image 1" descr="/root/kb/ico/FaCommentDots-8A6D0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1408" y="2862072"/>
            <a:ext cx="274320" cy="27432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7229704" y="276148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6" name="Text 12"/>
          <p:cNvSpPr/>
          <p:nvPr/>
        </p:nvSpPr>
        <p:spPr>
          <a:xfrm>
            <a:off x="7229704" y="2761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724248" y="343814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기대는 대화형 AI로 옮겨왔습니다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4724248" y="3822192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3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사람들은 소비 고민을 챗봇에게 묻기 시작했습니다.</a:t>
            </a:r>
            <a:endParaRPr lang="en-US" sz="1350" dirty="0"/>
          </a:p>
          <a:p>
            <a:pPr indent="0" marL="0">
              <a:lnSpc>
                <a:spcPct val="136000"/>
              </a:lnSpc>
              <a:buNone/>
            </a:pPr>
            <a:endParaRPr lang="en-US" sz="135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3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금융에도 ‘묻고, 실행까지 해 주는 AI’를 기대합니다.</a:t>
            </a:r>
            <a:endParaRPr lang="en-US" sz="1350" dirty="0"/>
          </a:p>
        </p:txBody>
      </p:sp>
      <p:sp>
        <p:nvSpPr>
          <p:cNvPr id="19" name="Shape 15"/>
          <p:cNvSpPr/>
          <p:nvPr/>
        </p:nvSpPr>
        <p:spPr>
          <a:xfrm>
            <a:off x="8125816" y="2395728"/>
            <a:ext cx="3401568" cy="3017520"/>
          </a:xfrm>
          <a:prstGeom prst="roundRect">
            <a:avLst>
              <a:gd name="adj" fmla="val 4848"/>
            </a:avLst>
          </a:prstGeom>
          <a:solidFill>
            <a:srgbClr val="25241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10960456" y="276148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21" name="Text 17"/>
          <p:cNvSpPr/>
          <p:nvPr/>
        </p:nvSpPr>
        <p:spPr>
          <a:xfrm>
            <a:off x="10960456" y="2761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455000" y="2761488"/>
            <a:ext cx="24871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경험은 아직 상담 창구입니다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8455000" y="3236976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21.6%</a:t>
            </a:r>
            <a:endParaRPr lang="en-US" sz="2600" dirty="0"/>
          </a:p>
        </p:txBody>
      </p:sp>
      <p:sp>
        <p:nvSpPr>
          <p:cNvPr id="24" name="Text 20"/>
          <p:cNvSpPr/>
          <p:nvPr/>
        </p:nvSpPr>
        <p:spPr>
          <a:xfrm>
            <a:off x="9698584" y="3236976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8E4DA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AI 상담 만족도</a:t>
            </a:r>
            <a:endParaRPr lang="en-US" sz="1250" dirty="0"/>
          </a:p>
        </p:txBody>
      </p:sp>
      <p:sp>
        <p:nvSpPr>
          <p:cNvPr id="25" name="Text 21"/>
          <p:cNvSpPr/>
          <p:nvPr/>
        </p:nvSpPr>
        <p:spPr>
          <a:xfrm>
            <a:off x="8455000" y="3913632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73.6%</a:t>
            </a:r>
            <a:endParaRPr lang="en-US" sz="2600" dirty="0"/>
          </a:p>
        </p:txBody>
      </p:sp>
      <p:sp>
        <p:nvSpPr>
          <p:cNvPr id="26" name="Text 22"/>
          <p:cNvSpPr/>
          <p:nvPr/>
        </p:nvSpPr>
        <p:spPr>
          <a:xfrm>
            <a:off x="9698584" y="3913632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8E4DA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“요구를 이해 못했다” 경험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8455000" y="4590288"/>
            <a:ext cx="1234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54%</a:t>
            </a:r>
            <a:endParaRPr lang="en-US" sz="2600" dirty="0"/>
          </a:p>
        </p:txBody>
      </p:sp>
      <p:sp>
        <p:nvSpPr>
          <p:cNvPr id="28" name="Text 24"/>
          <p:cNvSpPr/>
          <p:nvPr/>
        </p:nvSpPr>
        <p:spPr>
          <a:xfrm>
            <a:off x="9698584" y="4590288"/>
            <a:ext cx="1481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8E4DA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결국 사람 상담원 연결 요구</a:t>
            </a:r>
            <a:endParaRPr lang="en-US" sz="1250" dirty="0"/>
          </a:p>
        </p:txBody>
      </p:sp>
      <p:sp>
        <p:nvSpPr>
          <p:cNvPr id="29" name="Text 25"/>
          <p:cNvSpPr/>
          <p:nvPr/>
        </p:nvSpPr>
        <p:spPr>
          <a:xfrm>
            <a:off x="8455000" y="50292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9C4B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출처: KB의 생각 ‘AI 상담원의 한계’ (2025.10)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822960" y="5742432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필요한 것은 기록하는 앱이 아니라, </a:t>
            </a:r>
            <a:pPr algn="ctr" indent="0" marL="0">
              <a:buNone/>
            </a:pPr>
            <a:r>
              <a:rPr lang="en-US" sz="1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결정의 순간에 실행까지 해 주는 AI</a:t>
            </a:r>
            <a:pPr algn="ctr" indent="0" marL="0">
              <a:buNone/>
            </a:pPr>
            <a:r>
              <a:rPr lang="en-US" sz="15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입니다.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01 제안 배경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KB는 이미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‘KB with AI’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로 달리고 있습니다</a:t>
            </a:r>
            <a:endParaRPr lang="en-US" sz="2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비어 있는 것은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고객의 일상 소비를 다루는 AI 접점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입니다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49808" y="2377440"/>
            <a:ext cx="5394960" cy="30175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42416" y="261518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KB의 AI 방향성 — 조직 전체가 움직이는 중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42416" y="3090672"/>
            <a:ext cx="91440" cy="91440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8" name="Text 6"/>
          <p:cNvSpPr/>
          <p:nvPr/>
        </p:nvSpPr>
        <p:spPr>
          <a:xfrm>
            <a:off x="1261872" y="3035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그룹 생성형 AI 플랫폼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261872" y="3310128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‘KB Gen AI 포털’ · 금융권 첫 KB-GPT · KB AI Dev 센터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42416" y="3858768"/>
            <a:ext cx="91440" cy="91440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11" name="Text 9"/>
          <p:cNvSpPr/>
          <p:nvPr/>
        </p:nvSpPr>
        <p:spPr>
          <a:xfrm>
            <a:off x="1261872" y="380390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구글 클라우드 전략 협업 (2026.7)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1261872" y="4078224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Gemini 기반 ‘KB DAVIS’ · 고객 상담 AI 에이전트 ‘KB Star 별이’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1042416" y="4626864"/>
            <a:ext cx="91440" cy="91440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14" name="Text 12"/>
          <p:cNvSpPr/>
          <p:nvPr/>
        </p:nvSpPr>
        <p:spPr>
          <a:xfrm>
            <a:off x="1261872" y="45720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AI 에이전트 성과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261872" y="4846320"/>
            <a:ext cx="46634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영업 지원 업무 시간 최대 70% 단축 · 대상 직원 활용률 90%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345936" y="2377440"/>
            <a:ext cx="5084064" cy="301752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38544" y="2615184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그런데 고객 접점의 챗봇은 — 아쉬움 3가지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638544" y="305409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BEEE2"/>
          </a:solidFill>
          <a:ln/>
        </p:spPr>
      </p:sp>
      <p:sp>
        <p:nvSpPr>
          <p:cNvPr id="19" name="Text 17"/>
          <p:cNvSpPr/>
          <p:nvPr/>
        </p:nvSpPr>
        <p:spPr>
          <a:xfrm>
            <a:off x="6638544" y="30540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40A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986016" y="3035808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응대에 머뭅니다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986016" y="3310128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카드 챗봇 ‘큐디’도 안내·상담 중심 — 내 소비를 바꾸는 실행이 없습니다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638544" y="382219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BEEE2"/>
          </a:solidFill>
          <a:ln/>
        </p:spPr>
      </p:sp>
      <p:sp>
        <p:nvSpPr>
          <p:cNvPr id="23" name="Text 21"/>
          <p:cNvSpPr/>
          <p:nvPr/>
        </p:nvSpPr>
        <p:spPr>
          <a:xfrm>
            <a:off x="6638544" y="382219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40A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986016" y="3803904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내 맥락을 모릅니다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986016" y="4078224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사용자 의도 인식 오류 23% — 개인 데이터 기반 답변이 아닙니다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638544" y="459028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BEEE2"/>
          </a:solidFill>
          <a:ln/>
        </p:spPr>
      </p:sp>
      <p:sp>
        <p:nvSpPr>
          <p:cNvPr id="27" name="Text 25"/>
          <p:cNvSpPr/>
          <p:nvPr/>
        </p:nvSpPr>
        <p:spPr>
          <a:xfrm>
            <a:off x="6638544" y="45902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4540A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986016" y="457200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결국 사람을 찾습니다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986016" y="48463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고객 54%가 상담원 연결을 요구 — 만족도는 21.6%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49808" y="5614416"/>
            <a:ext cx="10698480" cy="566928"/>
          </a:xfrm>
          <a:prstGeom prst="roundRect">
            <a:avLst>
              <a:gd name="adj" fmla="val 25806"/>
            </a:avLst>
          </a:prstGeom>
          <a:solidFill>
            <a:srgbClr val="FFF7C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5614416"/>
            <a:ext cx="10698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직원의 AI는 준비됐습니다. 이제 필요한 것은 — </a:t>
            </a:r>
            <a:pPr algn="ctr"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고객의 소비를 ‘계획 단계’에서 만나는 AI</a:t>
            </a:r>
            <a:pPr algn="ctr"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입니다.</a:t>
            </a:r>
            <a:endParaRPr lang="en-US" sz="1450" dirty="0"/>
          </a:p>
        </p:txBody>
      </p:sp>
      <p:sp>
        <p:nvSpPr>
          <p:cNvPr id="32" name="Text 30"/>
          <p:cNvSpPr/>
          <p:nvPr/>
        </p:nvSpPr>
        <p:spPr>
          <a:xfrm>
            <a:off x="749808" y="6254496"/>
            <a:ext cx="10698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출처: KB금융×구글클라우드 협업 보도(2026.7.28) · KB의 생각 ‘AI 상담원의 한계’(2025.10)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5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94E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05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-1463040" y="-1737360"/>
            <a:ext cx="5852160" cy="5852160"/>
          </a:xfrm>
          <a:prstGeom prst="ellipse">
            <a:avLst/>
          </a:prstGeom>
          <a:solidFill>
            <a:srgbClr val="FFCC00">
              <a:alpha val="7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412480" y="3108960"/>
            <a:ext cx="5303520" cy="5303520"/>
          </a:xfrm>
          <a:prstGeom prst="ellipse">
            <a:avLst/>
          </a:prstGeom>
          <a:solidFill>
            <a:srgbClr val="FFCC00">
              <a:alpha val="7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01 제안 배경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960120" y="132588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“</a:t>
            </a:r>
            <a:endParaRPr lang="en-US" sz="8800" dirty="0"/>
          </a:p>
        </p:txBody>
      </p:sp>
      <p:sp>
        <p:nvSpPr>
          <p:cNvPr id="7" name="Text 5"/>
          <p:cNvSpPr/>
          <p:nvPr/>
        </p:nvSpPr>
        <p:spPr>
          <a:xfrm>
            <a:off x="9951415" y="44348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”</a:t>
            </a:r>
            <a:endParaRPr lang="en-US" sz="8800" dirty="0"/>
          </a:p>
        </p:txBody>
      </p:sp>
      <p:sp>
        <p:nvSpPr>
          <p:cNvPr id="8" name="Text 6"/>
          <p:cNvSpPr/>
          <p:nvPr/>
        </p:nvSpPr>
        <p:spPr>
          <a:xfrm>
            <a:off x="1005840" y="2377440"/>
            <a:ext cx="10180015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그렇다면 일정마다 금액을 붙이고,</a:t>
            </a:r>
            <a:endParaRPr lang="en-US" sz="27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2700" dirty="0">
                <a:solidFill>
                  <a:srgbClr val="25241F"/>
                </a:solidFill>
                <a:highlight>
                  <a:srgbClr val="FFCC00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숫자를 지어내지 않는</a:t>
            </a:r>
            <a:pPr algn="ctr" indent="0" marL="0">
              <a:lnSpc>
                <a:spcPct val="15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 AI가 계획을 다시 계산해 준다면</a:t>
            </a:r>
            <a:endParaRPr lang="en-US" sz="2700" dirty="0"/>
          </a:p>
          <a:p>
            <a:pPr algn="ctr" indent="0" marL="0">
              <a:lnSpc>
                <a:spcPct val="15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KB는 </a:t>
            </a:r>
            <a:pPr algn="ctr" indent="0" marL="0">
              <a:lnSpc>
                <a:spcPct val="155000"/>
              </a:lnSpc>
              <a:buNone/>
            </a:pPr>
            <a:r>
              <a:rPr lang="en-US" sz="2700" dirty="0">
                <a:solidFill>
                  <a:srgbClr val="25241F"/>
                </a:solidFill>
                <a:highlight>
                  <a:srgbClr val="FFCC00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쓰고 난 뒤가 아니라 쓰기 전에 만나는 금융</a:t>
            </a:r>
            <a:pPr algn="ctr" indent="0" marL="0">
              <a:lnSpc>
                <a:spcPct val="155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이 될 수 있지 않을까요?</a:t>
            </a:r>
            <a:endParaRPr lang="en-US" sz="2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01 제안 배경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두 사용자 모두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‘지금 써도 되는 금액’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 하나를 기다리고 있었습니다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83184" y="2084832"/>
            <a:ext cx="5120640" cy="3968496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148944" y="23408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Persona 1.  </a:t>
            </a:r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계획은 세우지만 늘 어긋나는 사회 초년생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148944" y="2724912"/>
            <a:ext cx="4389120" cy="713232"/>
          </a:xfrm>
          <a:prstGeom prst="roundRect">
            <a:avLst>
              <a:gd name="adj" fmla="val 16667"/>
            </a:avLst>
          </a:prstGeom>
          <a:solidFill>
            <a:srgbClr val="FFF7CF"/>
          </a:solidFill>
          <a:ln/>
        </p:spPr>
      </p:sp>
      <p:sp>
        <p:nvSpPr>
          <p:cNvPr id="8" name="Text 6"/>
          <p:cNvSpPr/>
          <p:nvPr/>
        </p:nvSpPr>
        <p:spPr>
          <a:xfrm>
            <a:off x="1331824" y="2724912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“통장에 15만원 남았는데,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다음 주 약속 나가면 얼마 남지?”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48944" y="351129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454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#머릿속계산 #저축은늘뒤로 #덩어리예산답답</a:t>
            </a:r>
            <a:endParaRPr lang="en-US" sz="1200" dirty="0"/>
          </a:p>
        </p:txBody>
      </p:sp>
      <p:pic>
        <p:nvPicPr>
          <p:cNvPr id="10" name="Image 0" descr="/root/kb/assets/persona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18080" y="3767328"/>
            <a:ext cx="868735" cy="122529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057504" y="5084064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28세 · 직장인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월 수입 220만원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저축 목표 80만원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557120" y="3858768"/>
            <a:ext cx="29809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Situation
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약속 · 병원 · 경조사가 겹치는 달에는 남은 돈이 얼마인지 감이 오지 않아, 결국 저축을 미루고 다음 달로 넘긴다.
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Need
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카테고리 예산이 아니라, 이번 주에 더 써도 되는 금액을 숫자 하나로 알려주는 안내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287872" y="2084832"/>
            <a:ext cx="5120640" cy="3968496"/>
          </a:xfrm>
          <a:prstGeom prst="roundRect">
            <a:avLst>
              <a:gd name="adj" fmla="val 368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653632" y="2340864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Persona 2.  </a:t>
            </a:r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혜택은 챙기고 싶은데 비교가 귀찮은 실속형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653632" y="2724912"/>
            <a:ext cx="4389120" cy="713232"/>
          </a:xfrm>
          <a:prstGeom prst="roundRect">
            <a:avLst>
              <a:gd name="adj" fmla="val 16667"/>
            </a:avLst>
          </a:prstGeom>
          <a:solidFill>
            <a:srgbClr val="FFF7CF"/>
          </a:solidFill>
          <a:ln/>
        </p:spPr>
      </p:sp>
      <p:sp>
        <p:nvSpPr>
          <p:cNvPr id="16" name="Text 13"/>
          <p:cNvSpPr/>
          <p:nvPr/>
        </p:nvSpPr>
        <p:spPr>
          <a:xfrm>
            <a:off x="6836512" y="2724912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“카드 바꾸면 이득인 건 알겠는데,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매번 계산해 보기가 너무 번거로워요.”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653632" y="3511296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454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#실적조건복잡 #연회비계산귀찮 #광고말고근거</a:t>
            </a:r>
            <a:endParaRPr lang="en-US" sz="1200" dirty="0"/>
          </a:p>
        </p:txBody>
      </p:sp>
      <p:pic>
        <p:nvPicPr>
          <p:cNvPr id="18" name="Image 1" descr="/root/kb/assets/persona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0693" y="3767328"/>
            <a:ext cx="972885" cy="1225296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6562192" y="5084064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35세 · 직장인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카드 2장 사용</a:t>
            </a:r>
            <a:endParaRPr lang="en-US" sz="11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앱 알림은 대부분 무시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061808" y="3858768"/>
            <a:ext cx="2980944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Situation
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혜택 안내는 늘 오지만 내 소비 기준으로 얼마 이득인지는 알려주지 않아, 추천을 광고로 인식하고 넘긴다.
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Need
</a:t>
            </a:r>
            <a:pPr indent="0" marL="0">
              <a:lnSpc>
                <a:spcPct val="13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내 실제 소비로 계산된 순혜택과, 조건을 못 채우면 못 채운다고 말해 주는 정직한 비교</a:t>
            </a:r>
            <a:endParaRPr lang="en-US" sz="1250" dirty="0"/>
          </a:p>
        </p:txBody>
      </p:sp>
      <p:sp>
        <p:nvSpPr>
          <p:cNvPr id="21" name="Text 17"/>
          <p:cNvSpPr/>
          <p:nvPr/>
        </p:nvSpPr>
        <p:spPr>
          <a:xfrm>
            <a:off x="822960" y="6199632"/>
            <a:ext cx="10515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※ 페르소나는 데모 데이터(2026년 7월 캘린더) 기준의 사용 맥락 가정입니다.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02 서비스 제안 · KB Tune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일정을 넣으면 금액이 붙고,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이번 주 쓸 수 있는 돈이 다시 계산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됩니다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49808" y="2212848"/>
            <a:ext cx="5870448" cy="3913632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78992" y="248716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7" name="Text 5"/>
          <p:cNvSpPr/>
          <p:nvPr/>
        </p:nvSpPr>
        <p:spPr>
          <a:xfrm>
            <a:off x="1078992" y="248716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463040" y="243230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일정 추가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62656" y="243230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캘린더에 제목만 적어도 됩니다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78992" y="2889504"/>
            <a:ext cx="53583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8992" y="309981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2" name="Text 10"/>
          <p:cNvSpPr/>
          <p:nvPr/>
        </p:nvSpPr>
        <p:spPr>
          <a:xfrm>
            <a:off x="1078992" y="30998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63040" y="304495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금액 추정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962656" y="3044952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과거 결제 이력의 중앙값 · 반복 주기로 채웁니다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1078992" y="3502152"/>
            <a:ext cx="53583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078992" y="3712464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78992" y="37124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463040" y="36576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영향 표시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962656" y="365760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넣기 전에 가능액과 목표 확률의 전 · 후를 보여줍니다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1078992" y="4114800"/>
            <a:ext cx="53583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78992" y="432511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22" name="Text 20"/>
          <p:cNvSpPr/>
          <p:nvPr/>
        </p:nvSpPr>
        <p:spPr>
          <a:xfrm>
            <a:off x="1078992" y="43251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463040" y="42702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조정안 제시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962656" y="427024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목표를 못 지킬 것 같으면 무엇을 미루면 되는지 먼저 말합니다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1078992" y="4727448"/>
            <a:ext cx="53583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78992" y="493776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27" name="Text 25"/>
          <p:cNvSpPr/>
          <p:nvPr/>
        </p:nvSpPr>
        <p:spPr>
          <a:xfrm>
            <a:off x="1078992" y="493776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463040" y="48828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즉시 반영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962656" y="488289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캘린더 · 예산 · 확률이 같은 화면에서 함께 움직입니다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1078992" y="5340096"/>
            <a:ext cx="53583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78992" y="555040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32" name="Text 30"/>
          <p:cNvSpPr/>
          <p:nvPr/>
        </p:nvSpPr>
        <p:spPr>
          <a:xfrm>
            <a:off x="1078992" y="555040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463040" y="549554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하루 마감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962656" y="549554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카드 기록이 없는 지출만 확인해 다음 예측을 정확하게 만듭니다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136892" y="2162556"/>
            <a:ext cx="1900676" cy="4014216"/>
          </a:xfrm>
          <a:prstGeom prst="roundRect">
            <a:avLst>
              <a:gd name="adj" fmla="val 6735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36" name="Image 0" descr="/root/kb/r/s10-week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87184" y="2212848"/>
            <a:ext cx="1800092" cy="3913632"/>
          </a:xfrm>
          <a:prstGeom prst="rect">
            <a:avLst/>
          </a:prstGeom>
        </p:spPr>
      </p:pic>
      <p:sp>
        <p:nvSpPr>
          <p:cNvPr id="37" name="Shape 34"/>
          <p:cNvSpPr/>
          <p:nvPr/>
        </p:nvSpPr>
        <p:spPr>
          <a:xfrm>
            <a:off x="9509760" y="2340864"/>
            <a:ext cx="1929384" cy="786384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38" name="Image 1" descr="/root/kb/ico/FaCalendarDays-74716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9216" y="2478024"/>
            <a:ext cx="182880" cy="182880"/>
          </a:xfrm>
          <a:prstGeom prst="rect">
            <a:avLst/>
          </a:prstGeom>
        </p:spPr>
      </p:pic>
      <p:sp>
        <p:nvSpPr>
          <p:cNvPr id="39" name="Text 35"/>
          <p:cNvSpPr/>
          <p:nvPr/>
        </p:nvSpPr>
        <p:spPr>
          <a:xfrm>
            <a:off x="9985248" y="24505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주간</a:t>
            </a:r>
            <a:endParaRPr lang="en-US" sz="1300" dirty="0"/>
          </a:p>
        </p:txBody>
      </p:sp>
      <p:sp>
        <p:nvSpPr>
          <p:cNvPr id="40" name="Text 36"/>
          <p:cNvSpPr/>
          <p:nvPr/>
        </p:nvSpPr>
        <p:spPr>
          <a:xfrm>
            <a:off x="9729216" y="2724912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이번 주 가능액</a:t>
            </a:r>
            <a:endParaRPr lang="en-US" sz="1150" dirty="0"/>
          </a:p>
        </p:txBody>
      </p:sp>
      <p:sp>
        <p:nvSpPr>
          <p:cNvPr id="41" name="Shape 37"/>
          <p:cNvSpPr/>
          <p:nvPr/>
        </p:nvSpPr>
        <p:spPr>
          <a:xfrm>
            <a:off x="9509760" y="3282696"/>
            <a:ext cx="1929384" cy="786384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42" name="Image 2" descr="/root/kb/ico/FaChartSimple-7471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9216" y="3419856"/>
            <a:ext cx="182880" cy="182880"/>
          </a:xfrm>
          <a:prstGeom prst="rect">
            <a:avLst/>
          </a:prstGeom>
        </p:spPr>
      </p:pic>
      <p:sp>
        <p:nvSpPr>
          <p:cNvPr id="43" name="Text 38"/>
          <p:cNvSpPr/>
          <p:nvPr/>
        </p:nvSpPr>
        <p:spPr>
          <a:xfrm>
            <a:off x="9985248" y="33924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분석</a:t>
            </a:r>
            <a:endParaRPr lang="en-US" sz="1300" dirty="0"/>
          </a:p>
        </p:txBody>
      </p:sp>
      <p:sp>
        <p:nvSpPr>
          <p:cNvPr id="44" name="Text 39"/>
          <p:cNvSpPr/>
          <p:nvPr/>
        </p:nvSpPr>
        <p:spPr>
          <a:xfrm>
            <a:off x="9729216" y="3666744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지출의 세 가지 상태</a:t>
            </a:r>
            <a:endParaRPr lang="en-US" sz="1150" dirty="0"/>
          </a:p>
        </p:txBody>
      </p:sp>
      <p:sp>
        <p:nvSpPr>
          <p:cNvPr id="45" name="Shape 40"/>
          <p:cNvSpPr/>
          <p:nvPr/>
        </p:nvSpPr>
        <p:spPr>
          <a:xfrm>
            <a:off x="9509760" y="4224528"/>
            <a:ext cx="1929384" cy="786384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46" name="Image 3" descr="/root/kb/ico/FaCommentDots-74716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29216" y="4361688"/>
            <a:ext cx="182880" cy="182880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9985248" y="43342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대화</a:t>
            </a:r>
            <a:endParaRPr lang="en-US" sz="1300" dirty="0"/>
          </a:p>
        </p:txBody>
      </p:sp>
      <p:sp>
        <p:nvSpPr>
          <p:cNvPr id="48" name="Text 42"/>
          <p:cNvSpPr/>
          <p:nvPr/>
        </p:nvSpPr>
        <p:spPr>
          <a:xfrm>
            <a:off x="9729216" y="4608576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묻고 바꾸기</a:t>
            </a:r>
            <a:endParaRPr lang="en-US" sz="1150" dirty="0"/>
          </a:p>
        </p:txBody>
      </p:sp>
      <p:sp>
        <p:nvSpPr>
          <p:cNvPr id="49" name="Shape 43"/>
          <p:cNvSpPr/>
          <p:nvPr/>
        </p:nvSpPr>
        <p:spPr>
          <a:xfrm>
            <a:off x="9509760" y="5166360"/>
            <a:ext cx="1929384" cy="786384"/>
          </a:xfrm>
          <a:prstGeom prst="roundRect">
            <a:avLst>
              <a:gd name="adj" fmla="val 1511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50" name="Image 4" descr="/root/kb/ico/FaCreditCard-74716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9216" y="5303520"/>
            <a:ext cx="182880" cy="182880"/>
          </a:xfrm>
          <a:prstGeom prst="rect">
            <a:avLst/>
          </a:prstGeom>
        </p:spPr>
      </p:pic>
      <p:sp>
        <p:nvSpPr>
          <p:cNvPr id="51" name="Text 44"/>
          <p:cNvSpPr/>
          <p:nvPr/>
        </p:nvSpPr>
        <p:spPr>
          <a:xfrm>
            <a:off x="9985248" y="52760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카드·적금</a:t>
            </a:r>
            <a:endParaRPr lang="en-US" sz="1300" dirty="0"/>
          </a:p>
        </p:txBody>
      </p:sp>
      <p:sp>
        <p:nvSpPr>
          <p:cNvPr id="52" name="Text 45"/>
          <p:cNvSpPr/>
          <p:nvPr/>
        </p:nvSpPr>
        <p:spPr>
          <a:xfrm>
            <a:off x="9729216" y="5550408"/>
            <a:ext cx="1572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순혜택 비교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02 서비스 제안 · KB Tune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786384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  </a:t>
            </a:r>
            <a:pPr indent="0" marL="0">
              <a:buNone/>
            </a:pPr>
            <a:r>
              <a:rPr lang="en-US" sz="27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시작하기 — 상품 가입 없이, 세 가지만 답하면 됩니다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31673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동의는 필수 하나 · 선택 둘 — 거부해도 모든 기능이 그대로 동작합니다. 3분이면 이번 달 계획이 나옵니다.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1336396" y="1888236"/>
            <a:ext cx="1674512" cy="3522506"/>
          </a:xfrm>
          <a:prstGeom prst="roundRect">
            <a:avLst>
              <a:gd name="adj" fmla="val 7645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7" name="Image 0" descr="/root/kb/r/s02-consent-r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6688" y="1938528"/>
            <a:ext cx="1573928" cy="342192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84352" y="55412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STEP 1  </a:t>
            </a:r>
            <a:pPr algn="ctr"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개인정보 처리 동의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966064" y="5815584"/>
            <a:ext cx="2414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요약본 없이 전문을 그대로 보여주고, ‘수집하지 않는 항목’을 같은 화면에 나란히 적습니다.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70352" y="3611880"/>
            <a:ext cx="420624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951580" y="1888236"/>
            <a:ext cx="1674512" cy="3522506"/>
          </a:xfrm>
          <a:prstGeom prst="roundRect">
            <a:avLst>
              <a:gd name="adj" fmla="val 7645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12" name="Image 1" descr="/root/kb/r/s06-kbpa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1872" y="1938528"/>
            <a:ext cx="1573928" cy="342192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99536" y="55412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STEP 2  </a:t>
            </a:r>
            <a:pPr algn="ctr"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Pay 이용내역 연결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581248" y="5815584"/>
            <a:ext cx="2414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가져오는 항목과 가져오지 않는 항목(카드번호 · 비밀번호 · CVC · 계좌 잔액)을 먼저 밝힙니다.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885536" y="3611880"/>
            <a:ext cx="420624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6566764" y="1888236"/>
            <a:ext cx="1674512" cy="3522506"/>
          </a:xfrm>
          <a:prstGeom prst="roundRect">
            <a:avLst>
              <a:gd name="adj" fmla="val 7645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17" name="Image 2" descr="/root/kb/r/s07-incom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7056" y="1938528"/>
            <a:ext cx="1573928" cy="342192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214720" y="55412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STEP 3  </a:t>
            </a:r>
            <a:pPr algn="ctr"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수입 · 저축 목표 확인</a:t>
            </a:r>
            <a:endParaRPr lang="en-US" sz="1350" dirty="0"/>
          </a:p>
        </p:txBody>
      </p:sp>
      <p:sp>
        <p:nvSpPr>
          <p:cNvPr id="19" name="Text 14"/>
          <p:cNvSpPr/>
          <p:nvPr/>
        </p:nvSpPr>
        <p:spPr>
          <a:xfrm>
            <a:off x="6196432" y="5815584"/>
            <a:ext cx="2414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월 수입 220만원 · 저축 목표 55만원. 나이대까지 기기에만 두고 서버로 보내지 않습니다.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500720" y="3611880"/>
            <a:ext cx="420624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21" name="Shape 16"/>
          <p:cNvSpPr/>
          <p:nvPr/>
        </p:nvSpPr>
        <p:spPr>
          <a:xfrm>
            <a:off x="9181948" y="1888236"/>
            <a:ext cx="1674512" cy="3522506"/>
          </a:xfrm>
          <a:prstGeom prst="roundRect">
            <a:avLst>
              <a:gd name="adj" fmla="val 7645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22" name="Image 3" descr="/root/kb/r/s09-don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2240" y="1938528"/>
            <a:ext cx="1573928" cy="342192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29904" y="554126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완료  </a:t>
            </a:r>
            <a:pPr algn="ctr"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3분 뒤, 이번 달 계획</a:t>
            </a:r>
            <a:endParaRPr lang="en-US" sz="1350" dirty="0"/>
          </a:p>
        </p:txBody>
      </p:sp>
      <p:sp>
        <p:nvSpPr>
          <p:cNvPr id="24" name="Text 18"/>
          <p:cNvSpPr/>
          <p:nvPr/>
        </p:nvSpPr>
        <p:spPr>
          <a:xfrm>
            <a:off x="8811616" y="5815584"/>
            <a:ext cx="241401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지킬 소비 · 수입과 목표 · 달성 확률 99%를 한 화면에 정리해 보여주고 끝냅니다.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02 서비스 제안 · KB Tune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78638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  </a:t>
            </a:r>
            <a:pPr indent="0" marL="0">
              <a:buNone/>
            </a:pPr>
            <a:r>
              <a:rPr lang="en-US" sz="27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주간 계획 — 큰 숫자 하나와, 그 숫자의 근거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3167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‘이번 주에 얼마 더 써도 되는지’를 먼저 보여주고, 그 아래에서 어떤 항목이 얼마를 움직였는지 전부 펼쳐 보여줍니다.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9808" y="1874520"/>
            <a:ext cx="4114800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042416" y="2075688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이번 주 추가 사용 가능액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42416" y="2386584"/>
            <a:ext cx="3529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월 수입에서 고정비 · 저축 목표 · 카드 할부 이월을 빼고, 그 주가 이번 달에 포함한 날짜 수만큼 배분한 값입니다. 달 첫 주와 마지막 주는 며칠 안 되니 그만큼만 나눠 줍니다.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49808" y="3319272"/>
            <a:ext cx="4114800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1042416" y="3520440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근거를 숨기지 않습니다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042416" y="3831336"/>
            <a:ext cx="3529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한 주 배분 +181,357원 · 지난주에서 넘어옴 +142,053원 · 이번 주 예상 지출 −130,000원. 어느 항목이 얼마를 움직였는지 같은 화면에서 확인됩니다.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49808" y="4764024"/>
            <a:ext cx="4114800" cy="1298448"/>
          </a:xfrm>
          <a:prstGeom prst="roundRect">
            <a:avLst>
              <a:gd name="adj" fmla="val 1126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1042416" y="4965192"/>
            <a:ext cx="3529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다음 주까지 이어집니다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042416" y="5276088"/>
            <a:ext cx="352958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0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이번 주에 안 쓰면 193,410원이 그대로 넘어가 8월 첫 주를 265,952원으로 시작합니다. 아낀 만큼 다음 주가 넉넉해지는 게 눈에 보입니다.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180076" y="1824228"/>
            <a:ext cx="2043674" cy="4325112"/>
          </a:xfrm>
          <a:prstGeom prst="roundRect">
            <a:avLst>
              <a:gd name="adj" fmla="val 6264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16" name="Image 0" descr="/root/kb/r/s15-weekly-af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874520"/>
            <a:ext cx="1943090" cy="4224528"/>
          </a:xfrm>
          <a:prstGeom prst="rect">
            <a:avLst/>
          </a:prstGeom>
        </p:spPr>
      </p:pic>
      <p:sp>
        <p:nvSpPr>
          <p:cNvPr id="17" name="Shape 14"/>
          <p:cNvSpPr/>
          <p:nvPr/>
        </p:nvSpPr>
        <p:spPr>
          <a:xfrm>
            <a:off x="7283196" y="1824228"/>
            <a:ext cx="2043674" cy="4325112"/>
          </a:xfrm>
          <a:prstGeom prst="roundRect">
            <a:avLst>
              <a:gd name="adj" fmla="val 6264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18" name="Image 1" descr="/root/kb/r/s16-carry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3488" y="1874520"/>
            <a:ext cx="1943090" cy="422452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138928" y="619963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주간 화면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242048" y="619963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같은 화면을 내리면 나오는 계산 근거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9601200" y="1874520"/>
            <a:ext cx="1847088" cy="4224528"/>
          </a:xfrm>
          <a:prstGeom prst="roundRect">
            <a:avLst>
              <a:gd name="adj" fmla="val 7921"/>
            </a:avLst>
          </a:prstGeom>
          <a:solidFill>
            <a:srgbClr val="FFF7CF"/>
          </a:solidFill>
          <a:ln/>
        </p:spPr>
      </p:sp>
      <p:sp>
        <p:nvSpPr>
          <p:cNvPr id="22" name="Text 18"/>
          <p:cNvSpPr/>
          <p:nvPr/>
        </p:nvSpPr>
        <p:spPr>
          <a:xfrm>
            <a:off x="9802368" y="208483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이번 주 계산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9802368" y="245059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한 주 배분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9802368" y="26517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+181,357원</a:t>
            </a:r>
            <a:endParaRPr lang="en-US" sz="1400" dirty="0"/>
          </a:p>
        </p:txBody>
      </p:sp>
      <p:sp>
        <p:nvSpPr>
          <p:cNvPr id="25" name="Text 21"/>
          <p:cNvSpPr/>
          <p:nvPr/>
        </p:nvSpPr>
        <p:spPr>
          <a:xfrm>
            <a:off x="9802368" y="309067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지난주 이월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9802368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+142,053원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9802368" y="373075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이번 주 예상 지출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9802368" y="3931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540A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−130,000원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9802368" y="437083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추가 사용 가능액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9802368" y="45720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193,410원</a:t>
            </a:r>
            <a:endParaRPr lang="en-US" sz="1400" dirty="0"/>
          </a:p>
        </p:txBody>
      </p:sp>
      <p:sp>
        <p:nvSpPr>
          <p:cNvPr id="31" name="Text 27"/>
          <p:cNvSpPr/>
          <p:nvPr/>
        </p:nvSpPr>
        <p:spPr>
          <a:xfrm>
            <a:off x="9802368" y="5010912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8월 첫 주 시작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9802368" y="5212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265,952원</a:t>
            </a:r>
            <a:endParaRPr lang="en-US" sz="1400" dirty="0"/>
          </a:p>
        </p:txBody>
      </p:sp>
      <p:sp>
        <p:nvSpPr>
          <p:cNvPr id="33" name="Text 29"/>
          <p:cNvSpPr/>
          <p:nvPr/>
        </p:nvSpPr>
        <p:spPr>
          <a:xfrm>
            <a:off x="9765792" y="5632704"/>
            <a:ext cx="1554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다음 결제일 청구액 542,630원 (D-16)은 월 예산과 별도로 항상 하단에 띄워 둡니다.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02 서비스 제안 · KB Tune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78638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  </a:t>
            </a:r>
            <a:pPr indent="0" marL="0">
              <a:buNone/>
            </a:pPr>
            <a:r>
              <a:rPr lang="en-US" sz="27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대화 — 묻는 것도, 바꾸는 것도 대화 안에서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3167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“고객센터로 연결해 드릴까요”로 끝나지 않습니다. 말풍선 안의 버튼이 실제로 일정을 넣고 예산을 다시 계산합니다.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818388" y="1824228"/>
            <a:ext cx="2077320" cy="4398264"/>
          </a:xfrm>
          <a:prstGeom prst="roundRect">
            <a:avLst>
              <a:gd name="adj" fmla="val 6163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7" name="Image 0" descr="/root/kb/r/s21-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874520"/>
            <a:ext cx="1976736" cy="42976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2967228" y="1824228"/>
            <a:ext cx="2077320" cy="4398264"/>
          </a:xfrm>
          <a:prstGeom prst="roundRect">
            <a:avLst>
              <a:gd name="adj" fmla="val 6163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9" name="Image 1" descr="/root/kb/r/s20-voice-pe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0" y="1874520"/>
            <a:ext cx="1976736" cy="42976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777240" y="629107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소비 패턴 질문 · 이어서 물어보기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2926080" y="6291072"/>
            <a:ext cx="21579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음성은 온디바이스 인식만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5394960" y="1874520"/>
            <a:ext cx="6053328" cy="4645152"/>
          </a:xfrm>
          <a:prstGeom prst="roundRect">
            <a:avLst>
              <a:gd name="adj" fmla="val 31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5687568" y="213969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4" name="Text 10"/>
          <p:cNvSpPr/>
          <p:nvPr/>
        </p:nvSpPr>
        <p:spPr>
          <a:xfrm>
            <a:off x="5687568" y="21396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071616" y="21031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지금 무엇이 나가는지 늘 보입니다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071616" y="2414016"/>
            <a:ext cx="5102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3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상단 배지가 ‘직접식별자 · 원문 비공개’ 상태를 상시 표시합니다. 외부 AI · 웹 검색을 켜면 배지가 함께 바뀝니다.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687568" y="312724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8" name="Text 14"/>
          <p:cNvSpPr/>
          <p:nvPr/>
        </p:nvSpPr>
        <p:spPr>
          <a:xfrm>
            <a:off x="5687568" y="312724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071616" y="30906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답변의 숫자는 엔진이 만든 값입니다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6071616" y="3401568"/>
            <a:ext cx="5102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3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‘남은 예산 323,410원’은 화면과 같은 숫자입니다. LLM은 문장만 쓰고, 엔진에 없는 숫자는 전송 전에 걸러집니다.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687568" y="411480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22" name="Text 18"/>
          <p:cNvSpPr/>
          <p:nvPr/>
        </p:nvSpPr>
        <p:spPr>
          <a:xfrm>
            <a:off x="5687568" y="41148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6071616" y="40782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다음 질문까지 제안합니다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6071616" y="4389120"/>
            <a:ext cx="5102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3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“오늘 7만원짜리 바지 사도 될까?”처럼 지금 상태에서 물어볼 만한 다음 질문을 미리 띄웁니다.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687568" y="510235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26" name="Text 22"/>
          <p:cNvSpPr/>
          <p:nvPr/>
        </p:nvSpPr>
        <p:spPr>
          <a:xfrm>
            <a:off x="5687568" y="51023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071616" y="506577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음성은 기기 밖으로 나가지 않습니다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071616" y="5376672"/>
            <a:ext cx="51023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3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온디바이스 인식만 쓰고 녹음을 저장하지 않습니다. 미지원 기기에서는 음성 입력을 아예 켜지 않습니다.</a:t>
            </a:r>
            <a:endParaRPr lang="en-US" sz="1200" dirty="0"/>
          </a:p>
        </p:txBody>
      </p:sp>
      <p:sp>
        <p:nvSpPr>
          <p:cNvPr id="29" name="Shape 25"/>
          <p:cNvSpPr/>
          <p:nvPr/>
        </p:nvSpPr>
        <p:spPr>
          <a:xfrm>
            <a:off x="5687568" y="6163056"/>
            <a:ext cx="1371600" cy="274320"/>
          </a:xfrm>
          <a:prstGeom prst="roundRect">
            <a:avLst>
              <a:gd name="adj" fmla="val 50000"/>
            </a:avLst>
          </a:prstGeom>
          <a:solidFill>
            <a:srgbClr val="EEF5EC"/>
          </a:solidFill>
          <a:ln/>
        </p:spPr>
      </p:sp>
      <p:sp>
        <p:nvSpPr>
          <p:cNvPr id="30" name="Text 26"/>
          <p:cNvSpPr/>
          <p:nvPr/>
        </p:nvSpPr>
        <p:spPr>
          <a:xfrm>
            <a:off x="5687568" y="616305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기기 안에서만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7187184" y="616305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외부 AI를 켜지 않으면 대화도 폰 안에서 처리되고, 화면과 같은 숫자로 답합니다.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02 서비스 제안 · KB Tune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786384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4  </a:t>
            </a:r>
            <a:pPr indent="0" marL="0">
              <a:buNone/>
            </a:pPr>
            <a:r>
              <a:rPr lang="en-US" sz="27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분석 — 돈을 세 가지 상태로 나눕니다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316736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“이번 달 80만원”이라고만 하면 이미 쓴 돈인지 앞으로 쓸 돈인지 알 수 없습니다. 상태를 나눠야 다음 결정을 할 수 있습니다.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9808" y="1874520"/>
            <a:ext cx="5029200" cy="896112"/>
          </a:xfrm>
          <a:prstGeom prst="roundRect">
            <a:avLst>
              <a:gd name="adj" fmla="val 163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05840" y="213055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FFF7CF"/>
          </a:solidFill>
          <a:ln w="15240">
            <a:solidFill>
              <a:srgbClr val="E0A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536192" y="2020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확정 지출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536192" y="2313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이미 썼거나 반드시 나갈 돈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3566160" y="20208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E0A800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분석 화면에서 노란색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49808" y="2926080"/>
            <a:ext cx="5029200" cy="896112"/>
          </a:xfrm>
          <a:prstGeom prst="roundRect">
            <a:avLst>
              <a:gd name="adj" fmla="val 163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005840" y="318211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EEF5EC"/>
          </a:solidFill>
          <a:ln w="15240">
            <a:solidFill>
              <a:srgbClr val="3F8A5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36192" y="30723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예약 예산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36192" y="336499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일정에 잡아 뒀지만 아직 결제 전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566160" y="307238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3F8A55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‘예약’ 배지 · 실제 출금 없음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49808" y="3977640"/>
            <a:ext cx="5029200" cy="896112"/>
          </a:xfrm>
          <a:prstGeom prst="roundRect">
            <a:avLst>
              <a:gd name="adj" fmla="val 163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4233672"/>
            <a:ext cx="384048" cy="384048"/>
          </a:xfrm>
          <a:prstGeom prst="roundRect">
            <a:avLst>
              <a:gd name="adj" fmla="val 23810"/>
            </a:avLst>
          </a:prstGeom>
          <a:solidFill>
            <a:srgbClr val="F2F0EA"/>
          </a:solidFill>
          <a:ln w="15240">
            <a:solidFill>
              <a:srgbClr val="4542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36192" y="4123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패턴 예상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536192" y="441655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캘린더엔 없지만 주기가 돌아온 지출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566160" y="41239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짙은 회색 · 동의해야 반영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49808" y="5029200"/>
            <a:ext cx="5029200" cy="10972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05840" y="5193792"/>
            <a:ext cx="4517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반복 소비 패턴 — 같은 이름이 2회 이상 관측될 때만 반복으로 인정합니다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1005840" y="5468112"/>
            <a:ext cx="4517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와드 42일 · 40,000원  |  쿠팡 장보기 10일 · 35,000원  |  주말 데이트 14일 · 70,000원  |  미용실 49일 · 26,000원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결혼식 · 정장 구매 같은 1회성 지출은 다음 달로 복제하지 않습니다.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350508" y="1824228"/>
            <a:ext cx="2056291" cy="4352544"/>
          </a:xfrm>
          <a:prstGeom prst="roundRect">
            <a:avLst>
              <a:gd name="adj" fmla="val 6226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25" name="Image 0" descr="/root/kb/r/08-analysi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0" y="1874520"/>
            <a:ext cx="1955707" cy="4251960"/>
          </a:xfrm>
          <a:prstGeom prst="rect">
            <a:avLst/>
          </a:prstGeom>
        </p:spPr>
      </p:pic>
      <p:sp>
        <p:nvSpPr>
          <p:cNvPr id="26" name="Shape 23"/>
          <p:cNvSpPr/>
          <p:nvPr/>
        </p:nvSpPr>
        <p:spPr>
          <a:xfrm>
            <a:off x="8686800" y="1874520"/>
            <a:ext cx="2761488" cy="4251960"/>
          </a:xfrm>
          <a:prstGeom prst="roundRect">
            <a:avLst>
              <a:gd name="adj" fmla="val 529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7" name="Text 24"/>
          <p:cNvSpPr/>
          <p:nvPr/>
        </p:nvSpPr>
        <p:spPr>
          <a:xfrm>
            <a:off x="8979408" y="212140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화면에서 읽히는 것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8979408" y="254203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7월 지출 합계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8979408" y="276148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약 1,602,000원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979408" y="32369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필수 지출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979408" y="345643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927,000원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8979408" y="39319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식비</a:t>
            </a:r>
            <a:endParaRPr lang="en-US" sz="1200" dirty="0"/>
          </a:p>
        </p:txBody>
      </p:sp>
      <p:sp>
        <p:nvSpPr>
          <p:cNvPr id="33" name="Text 30"/>
          <p:cNvSpPr/>
          <p:nvPr/>
        </p:nvSpPr>
        <p:spPr>
          <a:xfrm>
            <a:off x="8979408" y="41513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350,000원 (예상 +100,000원)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8979408" y="462686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색 구분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979408" y="48463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노랑=지출 완료 · 회색=예상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8979408" y="53218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결제 캡처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8979408" y="554126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기기 안에서만 OCR · 원본 미전송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02 서비스 제안 · KB Tune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786384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5  </a:t>
            </a:r>
            <a:pPr indent="0" marL="0">
              <a:buNone/>
            </a:pPr>
            <a:r>
              <a:rPr lang="en-US" sz="27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카드 · 적금 — 계획을 다 세운 다음에 나옵니다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31673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추천을 앞세우지 않습니다. 내 캘린더에서 다시 뽑은 소비로 월 순혜택을 계산하고, 그 계산 과정을 문장과 수식으로 함께 보여줍니다.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49808" y="1874520"/>
            <a:ext cx="5797296" cy="4480560"/>
          </a:xfrm>
          <a:prstGeom prst="roundRect">
            <a:avLst>
              <a:gd name="adj" fmla="val 32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42416" y="2157984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8" name="Text 6"/>
          <p:cNvSpPr/>
          <p:nvPr/>
        </p:nvSpPr>
        <p:spPr>
          <a:xfrm>
            <a:off x="1042416" y="215798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426464" y="2121408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추천 이유를 문장으로 설명합니다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26464" y="2432304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“스타벅스 50% 월 1만원 · 버거 20% 월 5천원 … 연회비 월 833원을 빼면 24,167원이 남아요.” 광고 문구가 아니라 계산 결과입니다.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042416" y="3200400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320040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426464" y="3163824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계산에 쓴 값을 함께 적습니다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6464" y="3474720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외식 365,000원 · 쇼핑 150,000원 · 카페 68,000원 — 계산에 쓴 값과 ‘기기 계산’ 배지를 함께 표기합니다.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42416" y="424281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6" name="Text 14"/>
          <p:cNvSpPr/>
          <p:nvPr/>
        </p:nvSpPr>
        <p:spPr>
          <a:xfrm>
            <a:off x="1042416" y="42428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426464" y="420624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조건 충족 여부를 먼저 확인합니다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4517136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전월실적 30만원은 지금 소비 951,000원으로 이미 충족. 못 넘는 상품은 순위에 올리지 않습니다.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1042416" y="528523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20" name="Text 18"/>
          <p:cNvSpPr/>
          <p:nvPr/>
        </p:nvSpPr>
        <p:spPr>
          <a:xfrm>
            <a:off x="1042416" y="52852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426464" y="5248656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마지막은 KB 공식 안내로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26464" y="5559552"/>
            <a:ext cx="482803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2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앱 안에서 kbcard.com을 열어 직접 확인하게 합니다. “발급됩니다” 대신 “심사를 받아야 해요”라고 씁니다.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853428" y="1824228"/>
            <a:ext cx="2043674" cy="4325112"/>
          </a:xfrm>
          <a:prstGeom prst="roundRect">
            <a:avLst>
              <a:gd name="adj" fmla="val 6264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24" name="Image 0" descr="/root/kb/r/s17-card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874520"/>
            <a:ext cx="1943090" cy="4224528"/>
          </a:xfrm>
          <a:prstGeom prst="rect">
            <a:avLst/>
          </a:prstGeom>
        </p:spPr>
      </p:pic>
      <p:sp>
        <p:nvSpPr>
          <p:cNvPr id="25" name="Shape 22"/>
          <p:cNvSpPr/>
          <p:nvPr/>
        </p:nvSpPr>
        <p:spPr>
          <a:xfrm>
            <a:off x="8956548" y="1824228"/>
            <a:ext cx="2043674" cy="4325112"/>
          </a:xfrm>
          <a:prstGeom prst="roundRect">
            <a:avLst>
              <a:gd name="adj" fmla="val 6264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26" name="Image 1" descr="/root/kb/r/s18-kbcard-we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874520"/>
            <a:ext cx="1943090" cy="4224528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6812280" y="619963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AI 추천 이유 · 순혜택 분해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8915400" y="6199632"/>
            <a:ext cx="21214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KB국민카드 공식 안내로 연결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6812280" y="6437376"/>
            <a:ext cx="4315968" cy="292608"/>
          </a:xfrm>
          <a:prstGeom prst="roundRect">
            <a:avLst>
              <a:gd name="adj" fmla="val 50000"/>
            </a:avLst>
          </a:prstGeom>
          <a:solidFill>
            <a:srgbClr val="EEF5EC"/>
          </a:solidFill>
          <a:ln/>
        </p:spPr>
      </p:sp>
      <p:sp>
        <p:nvSpPr>
          <p:cNvPr id="30" name="Text 26"/>
          <p:cNvSpPr/>
          <p:nvPr/>
        </p:nvSpPr>
        <p:spPr>
          <a:xfrm>
            <a:off x="6812280" y="6437376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월 예상 순혜택 +24,167원  ·  연 약 +290,004원 (연회비 차감 후)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749808" y="4572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02 서비스 제안 · KB Tune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49808" y="786384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6  </a:t>
            </a:r>
            <a:pPr indent="0" marL="0">
              <a:buNone/>
            </a:pPr>
            <a:r>
              <a:rPr lang="en-US" sz="27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User Journey — 하루의 소비 결정마다 KB가 함께합니다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749808" y="1316736"/>
            <a:ext cx="10332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가계부 앱은 월말에 열리지만, KB Tune은 결정의 순간마다 열립니다.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72872" y="1828800"/>
            <a:ext cx="2121408" cy="512064"/>
          </a:xfrm>
          <a:prstGeom prst="chevron">
            <a:avLst/>
          </a:prstGeom>
          <a:solidFill>
            <a:srgbClr val="FFF7CF"/>
          </a:solidFill>
          <a:ln/>
        </p:spPr>
      </p:sp>
      <p:sp>
        <p:nvSpPr>
          <p:cNvPr id="7" name="Text 5"/>
          <p:cNvSpPr/>
          <p:nvPr/>
        </p:nvSpPr>
        <p:spPr>
          <a:xfrm>
            <a:off x="700888" y="182880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시작  </a:t>
            </a:r>
            <a:pPr algn="ctr" indent="0" marL="0">
              <a:buNone/>
            </a:pPr>
            <a:r>
              <a:rPr lang="en-US" sz="105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가입 3분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72872" y="2487168"/>
            <a:ext cx="2121408" cy="33101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5752" y="26883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5752" y="2944368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동의 · 캘린더 연결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수입과 목표만 확인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55752" y="3950208"/>
            <a:ext cx="1755648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5752" y="40599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5752" y="4315968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이번 달 계획 자동 생성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달성 확률 99% 제시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2804008" y="1828800"/>
            <a:ext cx="2121408" cy="512064"/>
          </a:xfrm>
          <a:prstGeom prst="chevron">
            <a:avLst/>
          </a:prstGeom>
          <a:solidFill>
            <a:srgbClr val="FFF7CF"/>
          </a:solidFill>
          <a:ln/>
        </p:spPr>
      </p:sp>
      <p:sp>
        <p:nvSpPr>
          <p:cNvPr id="15" name="Text 13"/>
          <p:cNvSpPr/>
          <p:nvPr/>
        </p:nvSpPr>
        <p:spPr>
          <a:xfrm>
            <a:off x="2932024" y="182880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확인  </a:t>
            </a:r>
            <a:pPr algn="ctr" indent="0" marL="0">
              <a:buNone/>
            </a:pPr>
            <a:r>
              <a:rPr lang="en-US" sz="105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매주 월요일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2804008" y="2487168"/>
            <a:ext cx="2121408" cy="33101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86888" y="26883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986888" y="2944368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이번 주 가능액 확인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2986888" y="3950208"/>
            <a:ext cx="1755648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86888" y="40599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986888" y="4315968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243,410원 하나로 요약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지난주 이월 자동 반영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035144" y="1828800"/>
            <a:ext cx="2121408" cy="512064"/>
          </a:xfrm>
          <a:prstGeom prst="chevron">
            <a:avLst/>
          </a:prstGeom>
          <a:solidFill>
            <a:srgbClr val="FFF7CF"/>
          </a:solidFill>
          <a:ln/>
        </p:spPr>
      </p:sp>
      <p:sp>
        <p:nvSpPr>
          <p:cNvPr id="23" name="Text 21"/>
          <p:cNvSpPr/>
          <p:nvPr/>
        </p:nvSpPr>
        <p:spPr>
          <a:xfrm>
            <a:off x="5163160" y="182880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결정  </a:t>
            </a:r>
            <a:pPr algn="ctr" indent="0" marL="0">
              <a:buNone/>
            </a:pPr>
            <a:r>
              <a:rPr lang="en-US" sz="105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일정이 생길 때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5035144" y="2487168"/>
            <a:ext cx="2121408" cy="33101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5218024" y="26883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218024" y="2944368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“올리브영 들리기” 입력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또는 대화로 질문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218024" y="3950208"/>
            <a:ext cx="1755648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218024" y="40599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18024" y="4315968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예상 금액 · 영향 먼저 제시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기기 캘린더에 실제 반영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7266280" y="1828800"/>
            <a:ext cx="2121408" cy="512064"/>
          </a:xfrm>
          <a:prstGeom prst="chevron">
            <a:avLst/>
          </a:prstGeom>
          <a:solidFill>
            <a:srgbClr val="FFF7CF"/>
          </a:solidFill>
          <a:ln/>
        </p:spPr>
      </p:sp>
      <p:sp>
        <p:nvSpPr>
          <p:cNvPr id="31" name="Text 29"/>
          <p:cNvSpPr/>
          <p:nvPr/>
        </p:nvSpPr>
        <p:spPr>
          <a:xfrm>
            <a:off x="7394296" y="182880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마감  </a:t>
            </a:r>
            <a:pPr algn="ctr" indent="0" marL="0">
              <a:buNone/>
            </a:pPr>
            <a:r>
              <a:rPr lang="en-US" sz="105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하루 끝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7266280" y="2487168"/>
            <a:ext cx="2121408" cy="33101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7449160" y="26883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449160" y="2944368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현금 결제 여부만 답변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7449160" y="3950208"/>
            <a:ext cx="1755648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449160" y="40599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449160" y="4315968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예측 보정 · 반복 패턴 학습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다음 추정이 더 정확해짐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9497416" y="1828800"/>
            <a:ext cx="2121408" cy="512064"/>
          </a:xfrm>
          <a:prstGeom prst="chevron">
            <a:avLst/>
          </a:prstGeom>
          <a:solidFill>
            <a:srgbClr val="FFCC00"/>
          </a:solidFill>
          <a:ln/>
        </p:spPr>
      </p:sp>
      <p:sp>
        <p:nvSpPr>
          <p:cNvPr id="39" name="Text 37"/>
          <p:cNvSpPr/>
          <p:nvPr/>
        </p:nvSpPr>
        <p:spPr>
          <a:xfrm>
            <a:off x="9625432" y="1828800"/>
            <a:ext cx="193852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전환  </a:t>
            </a:r>
            <a:pPr algn="ctr" indent="0" marL="0">
              <a:buNone/>
            </a:pPr>
            <a:r>
              <a:rPr lang="en-US" sz="1050" dirty="0">
                <a:solidFill>
                  <a:srgbClr val="6B54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계획이 선 뒤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9497416" y="2487168"/>
            <a:ext cx="2121408" cy="3310128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680296" y="26883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사용자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9680296" y="2944368"/>
            <a:ext cx="17556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내 소비 기준 카드 비교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9680296" y="3950208"/>
            <a:ext cx="1755648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680296" y="4059936"/>
            <a:ext cx="17556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9680296" y="4315968"/>
            <a:ext cx="17556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순혜택 +24,167원 계산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KB Pay 신청으로 연결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49808" y="6053328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매주 열어야 할 이유가 있는 앱 — 그 접점이 </a:t>
            </a:r>
            <a:pPr algn="ctr" indent="0" marL="0">
              <a:buNone/>
            </a:pPr>
            <a:r>
              <a:rPr lang="en-US" sz="14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주거래와 교차 판매의 시작점</a:t>
            </a:r>
            <a:pPr algn="ctr"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이 됩니다.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14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03 차별점 · 데이터 권한 설계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AI의 권한을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3단 피라미드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로 설계했습니다</a:t>
            </a:r>
            <a:endParaRPr lang="en-US" sz="2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위로 갈수록 좁아지고,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기본값은 가장 안전한 맨 아래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입니다</a:t>
            </a:r>
            <a:endParaRPr lang="en-US" sz="2500" dirty="0"/>
          </a:p>
        </p:txBody>
      </p:sp>
      <p:pic>
        <p:nvPicPr>
          <p:cNvPr id="5" name="Image 0" descr="/root/kb/assets/pyram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2212848"/>
            <a:ext cx="4023360" cy="3474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94960" y="2212848"/>
            <a:ext cx="6035040" cy="1060704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614416" y="2487168"/>
            <a:ext cx="658368" cy="493776"/>
          </a:xfrm>
          <a:prstGeom prst="roundRect">
            <a:avLst>
              <a:gd name="adj" fmla="val 18519"/>
            </a:avLst>
          </a:prstGeom>
          <a:solidFill>
            <a:srgbClr val="FBEEE2"/>
          </a:solidFill>
          <a:ln/>
        </p:spPr>
      </p:sp>
      <p:sp>
        <p:nvSpPr>
          <p:cNvPr id="8" name="Text 5"/>
          <p:cNvSpPr/>
          <p:nvPr/>
        </p:nvSpPr>
        <p:spPr>
          <a:xfrm>
            <a:off x="5614416" y="2487168"/>
            <a:ext cx="65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9C4A08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LV 3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37376" y="235915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웹 검색을 켠 동안만 — 검색 문장 1개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37376" y="2651760"/>
            <a:ext cx="4791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돋보기를 켠 순간에만 그 문장이 나갑니다. 일정 · 예산 · 카드 내역은 검색 요청에 실리지 않습니다.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394960" y="3401568"/>
            <a:ext cx="6035040" cy="1060704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614416" y="3675888"/>
            <a:ext cx="658368" cy="493776"/>
          </a:xfrm>
          <a:prstGeom prst="roundRect">
            <a:avLst>
              <a:gd name="adj" fmla="val 18519"/>
            </a:avLst>
          </a:prstGeom>
          <a:solidFill>
            <a:srgbClr val="FFF7CF"/>
          </a:solidFill>
          <a:ln/>
        </p:spPr>
      </p:sp>
      <p:sp>
        <p:nvSpPr>
          <p:cNvPr id="13" name="Text 10"/>
          <p:cNvSpPr/>
          <p:nvPr/>
        </p:nvSpPr>
        <p:spPr>
          <a:xfrm>
            <a:off x="5614416" y="3675888"/>
            <a:ext cx="65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6D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LV 2</a:t>
            </a:r>
            <a:endParaRPr lang="en-US" sz="1350" dirty="0"/>
          </a:p>
        </p:txBody>
      </p:sp>
      <p:sp>
        <p:nvSpPr>
          <p:cNvPr id="14" name="Text 11"/>
          <p:cNvSpPr/>
          <p:nvPr/>
        </p:nvSpPr>
        <p:spPr>
          <a:xfrm>
            <a:off x="6437376" y="35478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외부 AI 동의 시 — 집계값만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6437376" y="3840480"/>
            <a:ext cx="4791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날짜 · 유형 · 금액과 예산 합계만 전송합니다. 국외 이전은 별도 동의로 받고, 거부해도 모든 기능이 동작합니다.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394960" y="4590288"/>
            <a:ext cx="6035040" cy="1060704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614416" y="4864608"/>
            <a:ext cx="658368" cy="493776"/>
          </a:xfrm>
          <a:prstGeom prst="roundRect">
            <a:avLst>
              <a:gd name="adj" fmla="val 18519"/>
            </a:avLst>
          </a:prstGeom>
          <a:solidFill>
            <a:srgbClr val="EEF5EC"/>
          </a:solidFill>
          <a:ln/>
        </p:spPr>
      </p:sp>
      <p:sp>
        <p:nvSpPr>
          <p:cNvPr id="18" name="Text 15"/>
          <p:cNvSpPr/>
          <p:nvPr/>
        </p:nvSpPr>
        <p:spPr>
          <a:xfrm>
            <a:off x="5614416" y="4864608"/>
            <a:ext cx="65836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LV 1</a:t>
            </a:r>
            <a:endParaRPr lang="en-US" sz="1350" dirty="0"/>
          </a:p>
        </p:txBody>
      </p:sp>
      <p:sp>
        <p:nvSpPr>
          <p:cNvPr id="19" name="Text 16"/>
          <p:cNvSpPr/>
          <p:nvPr/>
        </p:nvSpPr>
        <p:spPr>
          <a:xfrm>
            <a:off x="6437376" y="47365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기본값 — 모든 원본은 기기 안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6437376" y="5029200"/>
            <a:ext cx="4791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일정 제목 · 질문 원문 · OCR · 음성은 서버 요청 스키마에 없습니다. 외부 호출 0회로 전체 기능이 돌아갑니다.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49808" y="5760720"/>
            <a:ext cx="10698480" cy="658368"/>
          </a:xfrm>
          <a:prstGeom prst="roundRect">
            <a:avLst>
              <a:gd name="adj" fmla="val 22222"/>
            </a:avLst>
          </a:prstGeom>
          <a:solidFill>
            <a:srgbClr val="25241F"/>
          </a:solidFill>
          <a:ln/>
        </p:spPr>
      </p:sp>
      <p:sp>
        <p:nvSpPr>
          <p:cNvPr id="22" name="Text 19"/>
          <p:cNvSpPr/>
          <p:nvPr/>
        </p:nvSpPr>
        <p:spPr>
          <a:xfrm>
            <a:off x="1005840" y="5760720"/>
            <a:ext cx="10149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B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개발 중 보안 · 개인정보를 가장 예민하게 다뤘습니다 — </a:t>
            </a:r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개인정보보호위원회 「AI 개발·서비스를 위한 공개된 개인정보 처리 안내서」(2024.7)</a:t>
            </a:r>
            <a:pPr algn="ctr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9C4B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 기준을 따라 설계 · 구현했습니다.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15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03 차별점 · 온디바이스 개인정보 보호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기본값은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‘아무것도 나가지 않음’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입니다</a:t>
            </a:r>
            <a:endParaRPr lang="en-US" sz="2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받아서 그냥 켜면 외부 AI를 한 번도 호출하지 않습니다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749808" y="2286000"/>
            <a:ext cx="6400800" cy="2907792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042416" y="24505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이름 · 나이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00400" y="245059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나가지 않음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370832" y="2450592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서버 스키마에 받는 필드 자체가 없습니다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042416" y="2839212"/>
            <a:ext cx="58155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29077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질문 원문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200400" y="290779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나가지 않음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370832" y="2907792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폰에서 ‘카페 지출 질문’ 같은 금융 의도로 바꿔 보냅니다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1042416" y="3296412"/>
            <a:ext cx="58155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2416" y="33649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일정 제목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200400" y="336499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나가지 않음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70832" y="3364992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켜고 끄는 선택지조차 두지 않았습니다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3753612"/>
            <a:ext cx="58155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42416" y="38221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결제 캡처 · OCR 원문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200400" y="382219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나가지 않음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370832" y="3822192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Apple Vision으로 기기 안에서만 읽습니다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1042416" y="4210812"/>
            <a:ext cx="58155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42416" y="42793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음성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200400" y="427939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나가지 않음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370832" y="4279392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온디바이스 인식 · 녹음 파일을 저장하지 않습니다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42416" y="4668012"/>
            <a:ext cx="5815584" cy="0"/>
          </a:xfrm>
          <a:prstGeom prst="line">
            <a:avLst/>
          </a:prstGeom>
          <a:noFill/>
          <a:ln w="12700">
            <a:solidFill>
              <a:srgbClr val="E6E2D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4736592"/>
            <a:ext cx="2103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날짜 · 유형 · 금액, 예산 집계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00400" y="4736592"/>
            <a:ext cx="1133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4540A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켠 경우에만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370832" y="4736592"/>
            <a:ext cx="2487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사용자가 외부 AI를 직접 허용했을 때만 전송됩니다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49808" y="5303520"/>
            <a:ext cx="6400800" cy="914400"/>
          </a:xfrm>
          <a:prstGeom prst="roundRect">
            <a:avLst>
              <a:gd name="adj" fmla="val 16000"/>
            </a:avLst>
          </a:prstGeom>
          <a:solidFill>
            <a:srgbClr val="25241F"/>
          </a:solidFill>
          <a:ln/>
        </p:spPr>
      </p:sp>
      <p:sp>
        <p:nvSpPr>
          <p:cNvPr id="30" name="Text 28"/>
          <p:cNvSpPr/>
          <p:nvPr/>
        </p:nvSpPr>
        <p:spPr>
          <a:xfrm>
            <a:off x="1042416" y="5449824"/>
            <a:ext cx="58155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일정 제목만 유독 선택지도 없이 막은 이유 — </a:t>
            </a:r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C9C4B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제목에는 ‘정형외과 진료’, ‘성당 모임’ 같은 것이 들어갑니다. 어떤 규칙을 만들어도 전부 걸러낼 수 없어, 아예 보내지 않고 ‘카페 일정’처럼 유형으로 바꿔서 보냅니다.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7484364" y="2235708"/>
            <a:ext cx="1656738" cy="3483864"/>
          </a:xfrm>
          <a:prstGeom prst="roundRect">
            <a:avLst>
              <a:gd name="adj" fmla="val 7727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32" name="Image 0" descr="/root/kb/r/s03-consent-abroa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56" y="2286000"/>
            <a:ext cx="1556154" cy="3383280"/>
          </a:xfrm>
          <a:prstGeom prst="rect">
            <a:avLst/>
          </a:prstGeom>
        </p:spPr>
      </p:pic>
      <p:sp>
        <p:nvSpPr>
          <p:cNvPr id="33" name="Shape 30"/>
          <p:cNvSpPr/>
          <p:nvPr/>
        </p:nvSpPr>
        <p:spPr>
          <a:xfrm>
            <a:off x="9331452" y="2235708"/>
            <a:ext cx="1656738" cy="3483864"/>
          </a:xfrm>
          <a:prstGeom prst="roundRect">
            <a:avLst>
              <a:gd name="adj" fmla="val 7727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34" name="Image 1" descr="/root/kb/r/s04-consent-righ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744" y="2286000"/>
            <a:ext cx="1556154" cy="3383280"/>
          </a:xfrm>
          <a:prstGeom prst="rect">
            <a:avLst/>
          </a:prstGeom>
        </p:spPr>
      </p:pic>
      <p:sp>
        <p:nvSpPr>
          <p:cNvPr id="35" name="Text 31"/>
          <p:cNvSpPr/>
          <p:nvPr/>
        </p:nvSpPr>
        <p:spPr>
          <a:xfrm>
            <a:off x="7315200" y="579729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국외 이전 동의 — 이전되는 항목과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이전되지 않는 항목을 나눠서 고지</a:t>
            </a:r>
            <a:endParaRPr lang="en-US" sz="1000" dirty="0"/>
          </a:p>
        </p:txBody>
      </p:sp>
      <p:sp>
        <p:nvSpPr>
          <p:cNvPr id="36" name="Text 32"/>
          <p:cNvSpPr/>
          <p:nvPr/>
        </p:nvSpPr>
        <p:spPr>
          <a:xfrm>
            <a:off x="9162288" y="5797296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거부해도 모든 기능이 그대로 —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철회 · 열람 · 삭제 방법까지 명시</a:t>
            </a:r>
            <a:endParaRPr lang="en-US" sz="1000" dirty="0"/>
          </a:p>
        </p:txBody>
      </p:sp>
      <p:sp>
        <p:nvSpPr>
          <p:cNvPr id="37" name="Text 33"/>
          <p:cNvSpPr/>
          <p:nvPr/>
        </p:nvSpPr>
        <p:spPr>
          <a:xfrm>
            <a:off x="749808" y="6382512"/>
            <a:ext cx="6583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웹 검색만 예외입니다. 돋보기를 켠 동안에만 그 문장 하나가 나가고, 일정 · 예산 · 카드 내역은 검색 요청에 포함되지 않습니다.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16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03 차별점 · 숫자 접지 Groundedness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금액은 엔진이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,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문장은 LLM이</a:t>
            </a:r>
            <a:endParaRPr lang="en-US" sz="2500" dirty="0"/>
          </a:p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금융 앱에서 AI가 숫자를 지어내면 안 되기 때문입니다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53416" y="2432304"/>
            <a:ext cx="2121408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36296" y="2615184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사용자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36296" y="2907792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폰에서 금융 의도로 변환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02256" y="3017520"/>
            <a:ext cx="164592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694280" y="2432304"/>
            <a:ext cx="2121408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877160" y="2615184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결정론 엔진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877160" y="2907792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예산 · 확률 · 혜택 계산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843120" y="3017520"/>
            <a:ext cx="164592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035144" y="2432304"/>
            <a:ext cx="2121408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5218024" y="2615184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LLM 문장 생성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18024" y="2907792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스트리밍 대신 서버에서 버퍼링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183984" y="3017520"/>
            <a:ext cx="164592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7376008" y="2432304"/>
            <a:ext cx="2121408" cy="1170432"/>
          </a:xfrm>
          <a:prstGeom prst="roundRect">
            <a:avLst>
              <a:gd name="adj" fmla="val 12500"/>
            </a:avLst>
          </a:prstGeom>
          <a:solidFill>
            <a:srgbClr val="25241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558888" y="2615184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groundedness 검증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558888" y="2907792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C9C4B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엔진이 내지 않은 숫자 탐지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524848" y="3017520"/>
            <a:ext cx="164592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716872" y="2432304"/>
            <a:ext cx="2121408" cy="117043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899752" y="2615184"/>
            <a:ext cx="1755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화면 표시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899752" y="2907792"/>
            <a:ext cx="1755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검증을 통과한 뒤에만 전송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49808" y="3950208"/>
            <a:ext cx="5431536" cy="1883664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1042416" y="4151376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검증 규칙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42416" y="4498848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허용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627632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12,000원 + 8,000원 = 20,000원 — 준 숫자로 계산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42416" y="4901184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허용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27632" y="490118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118,500원을 “약 12만원”으로 — 반올림 값 자체를 명단에 포함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42416" y="530352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6454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차단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627632" y="53035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125,000원 — 엔진 데이터 어디에도 없는 값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55664" y="3950208"/>
            <a:ext cx="4992624" cy="1883664"/>
          </a:xfrm>
          <a:prstGeom prst="roundRect">
            <a:avLst>
              <a:gd name="adj" fmla="val 77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748272" y="415137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걸렸을 때의 처리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748272" y="4480560"/>
            <a:ext cx="4407408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B4540A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1~2개  </a:t>
            </a:r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그 숫자 옆에만 ‘(확인 필요)’를 붙입니다. 틀린 숫자 하나 때문에 맞는 문장까지 지우지 않습니다.
</a:t>
            </a:r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D6454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3개 이상  </a:t>
            </a:r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응답을 버리고 결정론 템플릿 문장으로 대체합니다.
</a:t>
            </a:r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공통  </a:t>
            </a:r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표시했든 대체했든 평가 점수에는 모델 실패로 그대로 집계합니다. 안전 폴백과 모델 품질을 같은 100%로 포장하지 않습니다.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17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04 실현 가능성 · 기술 아키텍처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개인정보는 기기에 남기고,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서버는 상태를 갖지 않습니다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49808" y="18288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원본은 기기 밖으로 나가지 않습니다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49808" y="2157984"/>
            <a:ext cx="3108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예산 계산 · 금액 추정 · 영수증 OCR · 음성 인식은 전부 폰 안에서 끝납니다. 이름 · 나이 · 질문 원문 · 일정 제목은 서버 요청 스키마에 받는 필드조차 만들지 않았습니다.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3346704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서버는 상태를 갖지 않습니다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9808" y="3675888"/>
            <a:ext cx="3108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Cloud Run 에 컨테이너 하나만 올리고 사용자 데이터베이스는 만들지 않습니다. 요청에 실려 온 값으로 계산하고 끝내므로, 유출될 축적 데이터가 존재하지 않습니다.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49808" y="4864608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언어 모델은 갈아 끼울 수 있습니다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9808" y="5193792"/>
            <a:ext cx="310896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기본값 offline 은 외부 호출이 0입니다. local · Claude · OpenAI 가 같은 인터페이스를 쓰기 때문에, KB 자체 모델이 준비되면 대화 기능을 그대로 둔 채 대체됩니다.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1783080"/>
            <a:ext cx="2057400" cy="3611880"/>
          </a:xfrm>
          <a:prstGeom prst="roundRect">
            <a:avLst>
              <a:gd name="adj" fmla="val 2667"/>
            </a:avLst>
          </a:prstGeom>
          <a:ln w="12700">
            <a:solidFill>
              <a:srgbClr val="C4BFB2"/>
            </a:solidFill>
            <a:prstDash val="dash"/>
          </a:ln>
        </p:spPr>
      </p:sp>
      <p:pic>
        <p:nvPicPr>
          <p:cNvPr id="12" name="Image 0" descr="/root/kb/ico/FaMobileScreen-74716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34256" y="1901952"/>
            <a:ext cx="155448" cy="15544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4553712" y="1865376"/>
            <a:ext cx="16184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사용자 기기 · iOS</a:t>
            </a:r>
            <a:endParaRPr lang="en-US" sz="1150" dirty="0"/>
          </a:p>
        </p:txBody>
      </p:sp>
      <p:pic>
        <p:nvPicPr>
          <p:cNvPr id="14" name="Image 1" descr="/root/kb/ico/SiSwift-F05138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8636" y="2157984"/>
            <a:ext cx="292608" cy="292608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343400" y="248716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 앱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160520" y="268833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SwiftUI · iOS 26.5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234940" y="2871216"/>
            <a:ext cx="0" cy="201168"/>
          </a:xfrm>
          <a:prstGeom prst="line">
            <a:avLst/>
          </a:prstGeom>
          <a:noFill/>
          <a:ln w="22225">
            <a:solidFill>
              <a:srgbClr val="E0A800"/>
            </a:solidFill>
            <a:prstDash val="solid"/>
            <a:tailEnd type="triangle"/>
          </a:ln>
        </p:spPr>
      </p:sp>
      <p:pic>
        <p:nvPicPr>
          <p:cNvPr id="18" name="Image 2" descr="/root/kb/ico/FaCalculator-74716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636" y="3072384"/>
            <a:ext cx="292608" cy="29260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343400" y="340156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BudgetEngine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4160520" y="360273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결정론 계산 · 오프라인 동작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234940" y="3785616"/>
            <a:ext cx="0" cy="201168"/>
          </a:xfrm>
          <a:prstGeom prst="line">
            <a:avLst/>
          </a:prstGeom>
          <a:noFill/>
          <a:ln w="22225">
            <a:solidFill>
              <a:srgbClr val="E0A800"/>
            </a:solidFill>
            <a:prstDash val="solid"/>
            <a:tailEnd type="triangle"/>
          </a:ln>
        </p:spPr>
      </p:sp>
      <p:pic>
        <p:nvPicPr>
          <p:cNvPr id="22" name="Image 3" descr="/root/kb/ico/FaLock-3F8A5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8636" y="3986784"/>
            <a:ext cx="292608" cy="29260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343400" y="431596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LocalStore</a:t>
            </a:r>
            <a:endParaRPr lang="en-US" sz="1150" dirty="0"/>
          </a:p>
        </p:txBody>
      </p:sp>
      <p:sp>
        <p:nvSpPr>
          <p:cNvPr id="24" name="Text 18"/>
          <p:cNvSpPr/>
          <p:nvPr/>
        </p:nvSpPr>
        <p:spPr>
          <a:xfrm>
            <a:off x="4160520" y="4517136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암호화 · 백업 제외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206240" y="4901184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8A55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EventKit · Vision OCR · 음성 인식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8A55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전부 온디바이스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318504" y="2788920"/>
            <a:ext cx="530352" cy="0"/>
          </a:xfrm>
          <a:prstGeom prst="line">
            <a:avLst/>
          </a:prstGeom>
          <a:noFill/>
          <a:ln w="22225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27" name="Text 21"/>
          <p:cNvSpPr/>
          <p:nvPr/>
        </p:nvSpPr>
        <p:spPr>
          <a:xfrm>
            <a:off x="6208776" y="2313432"/>
            <a:ext cx="749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HTTPS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X-API-Key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6903720" y="1783080"/>
            <a:ext cx="2514600" cy="4069080"/>
          </a:xfrm>
          <a:prstGeom prst="roundRect">
            <a:avLst>
              <a:gd name="adj" fmla="val 2182"/>
            </a:avLst>
          </a:prstGeom>
          <a:ln w="12700">
            <a:solidFill>
              <a:srgbClr val="C4BFB2"/>
            </a:solidFill>
            <a:prstDash val="dash"/>
          </a:ln>
        </p:spPr>
      </p:sp>
      <p:pic>
        <p:nvPicPr>
          <p:cNvPr id="29" name="Image 4" descr="/root/kb/ico/SiGooglecloud-74716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1736" y="1901952"/>
            <a:ext cx="155448" cy="155448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251192" y="1865376"/>
            <a:ext cx="2075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Google Cloud · asia-northeast3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7040880" y="2157984"/>
            <a:ext cx="2240280" cy="1316736"/>
          </a:xfrm>
          <a:prstGeom prst="roundRect">
            <a:avLst>
              <a:gd name="adj" fmla="val 6250"/>
            </a:avLst>
          </a:prstGeom>
          <a:solidFill>
            <a:srgbClr val="FFF7CF"/>
          </a:solidFill>
          <a:ln w="12700">
            <a:solidFill>
              <a:srgbClr val="FFCC00"/>
            </a:solidFill>
            <a:prstDash val="solid"/>
          </a:ln>
        </p:spPr>
      </p:sp>
      <p:pic>
        <p:nvPicPr>
          <p:cNvPr id="32" name="Image 5" descr="/root/kb/ico/SiFastapi-009688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68896" y="2267712"/>
            <a:ext cx="182880" cy="18288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406640" y="2249424"/>
            <a:ext cx="1737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Cloud Run · FastAPI</a:t>
            </a:r>
            <a:endParaRPr lang="en-US" sz="1150" dirty="0"/>
          </a:p>
        </p:txBody>
      </p:sp>
      <p:sp>
        <p:nvSpPr>
          <p:cNvPr id="34" name="Shape 26"/>
          <p:cNvSpPr/>
          <p:nvPr/>
        </p:nvSpPr>
        <p:spPr>
          <a:xfrm>
            <a:off x="7187184" y="2642616"/>
            <a:ext cx="64008" cy="64008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35" name="Text 27"/>
          <p:cNvSpPr/>
          <p:nvPr/>
        </p:nvSpPr>
        <p:spPr>
          <a:xfrm>
            <a:off x="7315200" y="2560320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5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보안 계층 — 인증 · 속도 제한</a:t>
            </a:r>
            <a:endParaRPr lang="en-US" sz="900" dirty="0"/>
          </a:p>
        </p:txBody>
      </p:sp>
      <p:sp>
        <p:nvSpPr>
          <p:cNvPr id="36" name="Shape 28"/>
          <p:cNvSpPr/>
          <p:nvPr/>
        </p:nvSpPr>
        <p:spPr>
          <a:xfrm>
            <a:off x="7187184" y="2926080"/>
            <a:ext cx="64008" cy="64008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37" name="Text 29"/>
          <p:cNvSpPr/>
          <p:nvPr/>
        </p:nvSpPr>
        <p:spPr>
          <a:xfrm>
            <a:off x="7315200" y="2843784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5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결정론 엔진 — 예산 · 확률 · 예측</a:t>
            </a:r>
            <a:endParaRPr lang="en-US" sz="900" dirty="0"/>
          </a:p>
        </p:txBody>
      </p:sp>
      <p:sp>
        <p:nvSpPr>
          <p:cNvPr id="38" name="Shape 30"/>
          <p:cNvSpPr/>
          <p:nvPr/>
        </p:nvSpPr>
        <p:spPr>
          <a:xfrm>
            <a:off x="7187184" y="3209544"/>
            <a:ext cx="64008" cy="64008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39" name="Text 31"/>
          <p:cNvSpPr/>
          <p:nvPr/>
        </p:nvSpPr>
        <p:spPr>
          <a:xfrm>
            <a:off x="7315200" y="3127248"/>
            <a:ext cx="1847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55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groundedness 검증</a:t>
            </a:r>
            <a:endParaRPr lang="en-US" sz="900" dirty="0"/>
          </a:p>
        </p:txBody>
      </p:sp>
      <p:sp>
        <p:nvSpPr>
          <p:cNvPr id="40" name="Shape 32"/>
          <p:cNvSpPr/>
          <p:nvPr/>
        </p:nvSpPr>
        <p:spPr>
          <a:xfrm>
            <a:off x="8161020" y="3511296"/>
            <a:ext cx="0" cy="201168"/>
          </a:xfrm>
          <a:prstGeom prst="line">
            <a:avLst/>
          </a:prstGeom>
          <a:noFill/>
          <a:ln w="22225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41" name="Text 33"/>
          <p:cNvSpPr/>
          <p:nvPr/>
        </p:nvSpPr>
        <p:spPr>
          <a:xfrm>
            <a:off x="8252460" y="3438144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읽기 전용</a:t>
            </a:r>
            <a:endParaRPr lang="en-US" sz="1000" dirty="0"/>
          </a:p>
        </p:txBody>
      </p:sp>
      <p:pic>
        <p:nvPicPr>
          <p:cNvPr id="42" name="Image 6" descr="/root/kb/ico/SiFirebase-FFA000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14716" y="3712464"/>
            <a:ext cx="292608" cy="292608"/>
          </a:xfrm>
          <a:prstGeom prst="rect">
            <a:avLst/>
          </a:prstGeom>
        </p:spPr>
      </p:pic>
      <p:sp>
        <p:nvSpPr>
          <p:cNvPr id="43" name="Text 34"/>
          <p:cNvSpPr/>
          <p:nvPr/>
        </p:nvSpPr>
        <p:spPr>
          <a:xfrm>
            <a:off x="7040880" y="40416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Firestore</a:t>
            </a:r>
            <a:endParaRPr lang="en-US" sz="1150" dirty="0"/>
          </a:p>
        </p:txBody>
      </p:sp>
      <p:sp>
        <p:nvSpPr>
          <p:cNvPr id="44" name="Text 35"/>
          <p:cNvSpPr/>
          <p:nvPr/>
        </p:nvSpPr>
        <p:spPr>
          <a:xfrm>
            <a:off x="6858000" y="42428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공표 통계 기준 금액 · 읽기 전용</a:t>
            </a:r>
            <a:endParaRPr lang="en-US" sz="1000" dirty="0"/>
          </a:p>
        </p:txBody>
      </p:sp>
      <p:pic>
        <p:nvPicPr>
          <p:cNvPr id="45" name="Image 7" descr="/root/kb/ico/FaKey-747168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14716" y="4626864"/>
            <a:ext cx="292608" cy="292608"/>
          </a:xfrm>
          <a:prstGeom prst="rect">
            <a:avLst/>
          </a:prstGeom>
        </p:spPr>
      </p:pic>
      <p:sp>
        <p:nvSpPr>
          <p:cNvPr id="46" name="Text 36"/>
          <p:cNvSpPr/>
          <p:nvPr/>
        </p:nvSpPr>
        <p:spPr>
          <a:xfrm>
            <a:off x="7040880" y="4956048"/>
            <a:ext cx="2240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Secret Manager</a:t>
            </a:r>
            <a:endParaRPr lang="en-US" sz="1150" dirty="0"/>
          </a:p>
        </p:txBody>
      </p:sp>
      <p:sp>
        <p:nvSpPr>
          <p:cNvPr id="47" name="Text 37"/>
          <p:cNvSpPr/>
          <p:nvPr/>
        </p:nvSpPr>
        <p:spPr>
          <a:xfrm>
            <a:off x="6858000" y="5157216"/>
            <a:ext cx="2606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OpenAI 키 · API 키 보관</a:t>
            </a:r>
            <a:endParaRPr lang="en-US" sz="1000" dirty="0"/>
          </a:p>
        </p:txBody>
      </p:sp>
      <p:sp>
        <p:nvSpPr>
          <p:cNvPr id="48" name="Shape 38"/>
          <p:cNvSpPr/>
          <p:nvPr/>
        </p:nvSpPr>
        <p:spPr>
          <a:xfrm>
            <a:off x="7040880" y="5468112"/>
            <a:ext cx="2240280" cy="274320"/>
          </a:xfrm>
          <a:prstGeom prst="roundRect">
            <a:avLst>
              <a:gd name="adj" fmla="val 50000"/>
            </a:avLst>
          </a:prstGeom>
          <a:solidFill>
            <a:srgbClr val="25241F"/>
          </a:solidFill>
          <a:ln/>
        </p:spPr>
      </p:sp>
      <p:sp>
        <p:nvSpPr>
          <p:cNvPr id="49" name="Text 39"/>
          <p:cNvSpPr/>
          <p:nvPr/>
        </p:nvSpPr>
        <p:spPr>
          <a:xfrm>
            <a:off x="7040880" y="5468112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사용자 데이터베이스 없음</a:t>
            </a:r>
            <a:endParaRPr lang="en-US" sz="1000" dirty="0"/>
          </a:p>
        </p:txBody>
      </p:sp>
      <p:sp>
        <p:nvSpPr>
          <p:cNvPr id="50" name="Shape 40"/>
          <p:cNvSpPr/>
          <p:nvPr/>
        </p:nvSpPr>
        <p:spPr>
          <a:xfrm>
            <a:off x="9473184" y="2788920"/>
            <a:ext cx="438912" cy="0"/>
          </a:xfrm>
          <a:prstGeom prst="line">
            <a:avLst/>
          </a:prstGeom>
          <a:noFill/>
          <a:ln w="22225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51" name="Text 41"/>
          <p:cNvSpPr/>
          <p:nvPr/>
        </p:nvSpPr>
        <p:spPr>
          <a:xfrm>
            <a:off x="9363456" y="2313432"/>
            <a:ext cx="658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집계값만</a:t>
            </a:r>
            <a:endParaRPr lang="en-US" sz="10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전달</a:t>
            </a:r>
            <a:endParaRPr lang="en-US" sz="1000" dirty="0"/>
          </a:p>
        </p:txBody>
      </p:sp>
      <p:sp>
        <p:nvSpPr>
          <p:cNvPr id="52" name="Shape 42"/>
          <p:cNvSpPr/>
          <p:nvPr/>
        </p:nvSpPr>
        <p:spPr>
          <a:xfrm>
            <a:off x="9966960" y="1783080"/>
            <a:ext cx="1554480" cy="3108960"/>
          </a:xfrm>
          <a:prstGeom prst="roundRect">
            <a:avLst>
              <a:gd name="adj" fmla="val 3529"/>
            </a:avLst>
          </a:prstGeom>
          <a:ln w="12700">
            <a:solidFill>
              <a:srgbClr val="C4BFB2"/>
            </a:solidFill>
            <a:prstDash val="dash"/>
          </a:ln>
        </p:spPr>
      </p:sp>
      <p:sp>
        <p:nvSpPr>
          <p:cNvPr id="53" name="Text 43"/>
          <p:cNvSpPr/>
          <p:nvPr/>
        </p:nvSpPr>
        <p:spPr>
          <a:xfrm>
            <a:off x="10094976" y="1865376"/>
            <a:ext cx="13350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언어 모델</a:t>
            </a:r>
            <a:endParaRPr lang="en-US" sz="1150" dirty="0"/>
          </a:p>
        </p:txBody>
      </p:sp>
      <p:sp>
        <p:nvSpPr>
          <p:cNvPr id="54" name="Shape 44"/>
          <p:cNvSpPr/>
          <p:nvPr/>
        </p:nvSpPr>
        <p:spPr>
          <a:xfrm>
            <a:off x="10076688" y="2157984"/>
            <a:ext cx="1325880" cy="347472"/>
          </a:xfrm>
          <a:prstGeom prst="roundRect">
            <a:avLst>
              <a:gd name="adj" fmla="val 23684"/>
            </a:avLst>
          </a:prstGeom>
          <a:solidFill>
            <a:srgbClr val="FFCC00"/>
          </a:solidFill>
          <a:ln w="12700">
            <a:solidFill>
              <a:srgbClr val="FFCC00"/>
            </a:solidFill>
            <a:prstDash val="solid"/>
          </a:ln>
        </p:spPr>
      </p:sp>
      <p:sp>
        <p:nvSpPr>
          <p:cNvPr id="55" name="Text 45"/>
          <p:cNvSpPr/>
          <p:nvPr/>
        </p:nvSpPr>
        <p:spPr>
          <a:xfrm>
            <a:off x="10076688" y="2157984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offline 기본</a:t>
            </a:r>
            <a:endParaRPr lang="en-US" sz="900" dirty="0"/>
          </a:p>
        </p:txBody>
      </p:sp>
      <p:sp>
        <p:nvSpPr>
          <p:cNvPr id="56" name="Shape 46"/>
          <p:cNvSpPr/>
          <p:nvPr/>
        </p:nvSpPr>
        <p:spPr>
          <a:xfrm>
            <a:off x="10076688" y="2578608"/>
            <a:ext cx="1325880" cy="347472"/>
          </a:xfrm>
          <a:prstGeom prst="roundRect">
            <a:avLst>
              <a:gd name="adj" fmla="val 23684"/>
            </a:avLst>
          </a:prstGeom>
          <a:solidFill>
            <a:srgbClr val="FBFAF7"/>
          </a:solidFill>
          <a:ln w="12700">
            <a:solidFill>
              <a:srgbClr val="E6E2D8"/>
            </a:solidFill>
            <a:prstDash val="solid"/>
          </a:ln>
        </p:spPr>
      </p:sp>
      <p:pic>
        <p:nvPicPr>
          <p:cNvPr id="57" name="Image 8" descr="/root/kb/ico/SiOllama-747168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168128" y="2679192"/>
            <a:ext cx="146304" cy="146304"/>
          </a:xfrm>
          <a:prstGeom prst="rect">
            <a:avLst/>
          </a:prstGeom>
        </p:spPr>
      </p:pic>
      <p:sp>
        <p:nvSpPr>
          <p:cNvPr id="58" name="Text 47"/>
          <p:cNvSpPr/>
          <p:nvPr/>
        </p:nvSpPr>
        <p:spPr>
          <a:xfrm>
            <a:off x="10387584" y="2578608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Ollama</a:t>
            </a:r>
            <a:endParaRPr lang="en-US" sz="900" dirty="0"/>
          </a:p>
        </p:txBody>
      </p:sp>
      <p:sp>
        <p:nvSpPr>
          <p:cNvPr id="59" name="Shape 48"/>
          <p:cNvSpPr/>
          <p:nvPr/>
        </p:nvSpPr>
        <p:spPr>
          <a:xfrm>
            <a:off x="10076688" y="2999232"/>
            <a:ext cx="1325880" cy="347472"/>
          </a:xfrm>
          <a:prstGeom prst="roundRect">
            <a:avLst>
              <a:gd name="adj" fmla="val 23684"/>
            </a:avLst>
          </a:prstGeom>
          <a:solidFill>
            <a:srgbClr val="FBFAF7"/>
          </a:solidFill>
          <a:ln w="12700">
            <a:solidFill>
              <a:srgbClr val="E6E2D8"/>
            </a:solidFill>
            <a:prstDash val="solid"/>
          </a:ln>
        </p:spPr>
      </p:sp>
      <p:pic>
        <p:nvPicPr>
          <p:cNvPr id="60" name="Image 9" descr="/root/kb/ico/SiAnthropic-D97757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68128" y="3099816"/>
            <a:ext cx="146304" cy="146304"/>
          </a:xfrm>
          <a:prstGeom prst="rect">
            <a:avLst/>
          </a:prstGeom>
        </p:spPr>
      </p:pic>
      <p:sp>
        <p:nvSpPr>
          <p:cNvPr id="61" name="Text 49"/>
          <p:cNvSpPr/>
          <p:nvPr/>
        </p:nvSpPr>
        <p:spPr>
          <a:xfrm>
            <a:off x="10387584" y="2999232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Claude</a:t>
            </a:r>
            <a:endParaRPr lang="en-US" sz="900" dirty="0"/>
          </a:p>
        </p:txBody>
      </p:sp>
      <p:sp>
        <p:nvSpPr>
          <p:cNvPr id="62" name="Shape 50"/>
          <p:cNvSpPr/>
          <p:nvPr/>
        </p:nvSpPr>
        <p:spPr>
          <a:xfrm>
            <a:off x="10076688" y="3419856"/>
            <a:ext cx="1325880" cy="347472"/>
          </a:xfrm>
          <a:prstGeom prst="roundRect">
            <a:avLst>
              <a:gd name="adj" fmla="val 23684"/>
            </a:avLst>
          </a:prstGeom>
          <a:solidFill>
            <a:srgbClr val="FBFAF7"/>
          </a:solidFill>
          <a:ln w="12700">
            <a:solidFill>
              <a:srgbClr val="E6E2D8"/>
            </a:solidFill>
            <a:prstDash val="solid"/>
          </a:ln>
        </p:spPr>
      </p:sp>
      <p:pic>
        <p:nvPicPr>
          <p:cNvPr id="63" name="Image 10" descr="/root/kb/ico/SiOpenai-41299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68128" y="3520440"/>
            <a:ext cx="146304" cy="146304"/>
          </a:xfrm>
          <a:prstGeom prst="rect">
            <a:avLst/>
          </a:prstGeom>
        </p:spPr>
      </p:pic>
      <p:sp>
        <p:nvSpPr>
          <p:cNvPr id="64" name="Text 51"/>
          <p:cNvSpPr/>
          <p:nvPr/>
        </p:nvSpPr>
        <p:spPr>
          <a:xfrm>
            <a:off x="10387584" y="3419856"/>
            <a:ext cx="960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OpenAI</a:t>
            </a:r>
            <a:endParaRPr lang="en-US" sz="900" dirty="0"/>
          </a:p>
        </p:txBody>
      </p:sp>
      <p:sp>
        <p:nvSpPr>
          <p:cNvPr id="65" name="Shape 52"/>
          <p:cNvSpPr/>
          <p:nvPr/>
        </p:nvSpPr>
        <p:spPr>
          <a:xfrm>
            <a:off x="10076688" y="3840480"/>
            <a:ext cx="1325880" cy="347472"/>
          </a:xfrm>
          <a:prstGeom prst="roundRect">
            <a:avLst>
              <a:gd name="adj" fmla="val 23684"/>
            </a:avLst>
          </a:prstGeom>
          <a:solidFill>
            <a:srgbClr val="EEF5EC"/>
          </a:solidFill>
          <a:ln w="12700">
            <a:solidFill>
              <a:srgbClr val="EEF5EC"/>
            </a:solidFill>
            <a:prstDash val="solid"/>
          </a:ln>
        </p:spPr>
      </p:sp>
      <p:sp>
        <p:nvSpPr>
          <p:cNvPr id="66" name="Text 53"/>
          <p:cNvSpPr/>
          <p:nvPr/>
        </p:nvSpPr>
        <p:spPr>
          <a:xfrm>
            <a:off x="10076688" y="3840480"/>
            <a:ext cx="1325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자체 모델</a:t>
            </a:r>
            <a:endParaRPr lang="en-US" sz="900" dirty="0"/>
          </a:p>
        </p:txBody>
      </p:sp>
      <p:sp>
        <p:nvSpPr>
          <p:cNvPr id="67" name="Text 54"/>
          <p:cNvSpPr/>
          <p:nvPr/>
        </p:nvSpPr>
        <p:spPr>
          <a:xfrm>
            <a:off x="9921240" y="4334256"/>
            <a:ext cx="1645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8A55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무엇을 고르든 실패하면</a:t>
            </a:r>
            <a:endParaRPr lang="en-US" sz="10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3F8A55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템플릿 응답으로 폴백</a:t>
            </a:r>
            <a:endParaRPr lang="en-US" sz="1000" dirty="0"/>
          </a:p>
        </p:txBody>
      </p:sp>
      <p:sp>
        <p:nvSpPr>
          <p:cNvPr id="68" name="Shape 55"/>
          <p:cNvSpPr/>
          <p:nvPr/>
        </p:nvSpPr>
        <p:spPr>
          <a:xfrm>
            <a:off x="9966960" y="5074920"/>
            <a:ext cx="1554480" cy="685800"/>
          </a:xfrm>
          <a:prstGeom prst="roundRect">
            <a:avLst>
              <a:gd name="adj" fmla="val 8000"/>
            </a:avLst>
          </a:prstGeom>
          <a:ln w="12700">
            <a:solidFill>
              <a:srgbClr val="C4BFB2"/>
            </a:solidFill>
            <a:prstDash val="dash"/>
          </a:ln>
        </p:spPr>
      </p:sp>
      <p:pic>
        <p:nvPicPr>
          <p:cNvPr id="69" name="Image 11" descr="/root/kb/ico/SiDocker-2496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94976" y="5193792"/>
            <a:ext cx="155448" cy="155448"/>
          </a:xfrm>
          <a:prstGeom prst="rect">
            <a:avLst/>
          </a:prstGeom>
        </p:spPr>
      </p:pic>
      <p:sp>
        <p:nvSpPr>
          <p:cNvPr id="70" name="Text 56"/>
          <p:cNvSpPr/>
          <p:nvPr/>
        </p:nvSpPr>
        <p:spPr>
          <a:xfrm>
            <a:off x="10314432" y="5157216"/>
            <a:ext cx="11155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배포 파이프라인</a:t>
            </a:r>
            <a:endParaRPr lang="en-US" sz="1150" dirty="0"/>
          </a:p>
        </p:txBody>
      </p:sp>
      <p:sp>
        <p:nvSpPr>
          <p:cNvPr id="71" name="Text 57"/>
          <p:cNvSpPr/>
          <p:nvPr/>
        </p:nvSpPr>
        <p:spPr>
          <a:xfrm>
            <a:off x="10040112" y="5358384"/>
            <a:ext cx="1426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7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gcloud run deploy --source</a:t>
            </a:r>
            <a:endParaRPr lang="en-US" sz="87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87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→ Cloud Build → Registry</a:t>
            </a:r>
            <a:endParaRPr lang="en-US" sz="870" dirty="0"/>
          </a:p>
        </p:txBody>
      </p:sp>
      <p:sp>
        <p:nvSpPr>
          <p:cNvPr id="72" name="Text 58"/>
          <p:cNvSpPr/>
          <p:nvPr/>
        </p:nvSpPr>
        <p:spPr>
          <a:xfrm>
            <a:off x="4206240" y="6016752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기기 경계를 넘는 것은 날짜 · 유형 · 금액과 예산 집계값뿐입니다. 일정 제목 · 질문 원문 · 이름 · 나이 · OCR 원본은 서버 요청 스키마에 아예 없습니다.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18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04 실현 가능성 · 검증 증빙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기획서가 아니라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돌아가는 앱과 통과한 테스트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로 증명합니다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80848" y="2103120"/>
            <a:ext cx="2651760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18592" y="224942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57 / 57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8592" y="281635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FastAPI 엔진 · AI · 보안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8592" y="3072384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pytest -q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06928" y="2103120"/>
            <a:ext cx="2651760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44672" y="224942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61 / 61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44672" y="281635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iOS 단위 테스트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44672" y="3072384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XCTest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33008" y="2103120"/>
            <a:ext cx="2651760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70752" y="224942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 / 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470752" y="281635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최종 핵심 UI 시나리오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70752" y="3072384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XCUITest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59088" y="2103120"/>
            <a:ext cx="2651760" cy="148132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396832" y="2249424"/>
            <a:ext cx="21762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4종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396832" y="2816352"/>
            <a:ext cx="21762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LLM 백엔드 교체 검증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396832" y="3072384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offline · local · Claude · OpenAI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49808" y="3712464"/>
            <a:ext cx="5431536" cy="2139696"/>
          </a:xfrm>
          <a:prstGeom prst="roundRect">
            <a:avLst>
              <a:gd name="adj" fmla="val 68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1042416" y="391363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AI 응답도 테스트로 잠급니다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42416" y="4315968"/>
            <a:ext cx="4846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golden case 평가 러너가 대화 답변의 모든 숫자를 엔진 값과 대조합니다. 4종 백엔드를 같은 케이스로 반복 검증했고, 접지 실패는 폴백돼도 모델 실패로 그대로 집계합니다.</a:t>
            </a:r>
            <a:endParaRPr lang="en-US" sz="1200" dirty="0"/>
          </a:p>
          <a:p>
            <a:pPr indent="0" marL="0">
              <a:lnSpc>
                <a:spcPct val="136000"/>
              </a:lnSpc>
              <a:buNone/>
            </a:pPr>
            <a:endParaRPr lang="en-US" sz="1200" dirty="0"/>
          </a:p>
          <a:p>
            <a:pPr indent="0" marL="0">
              <a:lnSpc>
                <a:spcPct val="136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문서의 앱 화면도 사람이 아니라 UI 테스트가 캡처합니다 — 화면이 바뀌면 스크린샷도 함께 바뀝니다.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55664" y="3712464"/>
            <a:ext cx="4992624" cy="2139696"/>
          </a:xfrm>
          <a:prstGeom prst="roundRect">
            <a:avLst>
              <a:gd name="adj" fmla="val 6838"/>
            </a:avLst>
          </a:prstGeom>
          <a:solidFill>
            <a:srgbClr val="FBEEE2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3913632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4540A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제출 시점에 밝히는 한계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48272" y="4315968"/>
            <a:ext cx="440740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7A5A3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KB Pay 실데이터 연동은 데모 범위이며 운영 연동으로 표현하지 않습니다.</a:t>
            </a:r>
            <a:endParaRPr lang="en-US" sz="11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7A5A3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예측은 개인 이력 기반 결정론 모델입니다. 장기 시계열 AI라고 과장하지 않습니다.</a:t>
            </a:r>
            <a:endParaRPr lang="en-US" sz="11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7A5A3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전체 UI 스위트 단일 재실행 전이므로 ‘UI 100%’라고 주장하지 않습니다.</a:t>
            </a:r>
            <a:endParaRPr lang="en-US" sz="115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150" dirty="0">
                <a:solidFill>
                  <a:srgbClr val="7A5A38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실사용자 홀드아웃 MAE / MAPE 검증은 다음 단계입니다.</a:t>
            </a:r>
            <a:endParaRPr lang="en-US" sz="1150" dirty="0"/>
          </a:p>
        </p:txBody>
      </p:sp>
      <p:pic>
        <p:nvPicPr>
          <p:cNvPr id="27" name="Image 0" descr="/root/kb/ico/SiGithub-25241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66160" y="6071616"/>
            <a:ext cx="256032" cy="256032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3913632" y="6053328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전체 코드 · 테스트 · 문서 공개  —  </a:t>
            </a:r>
            <a:pPr indent="0" marL="0">
              <a:buNone/>
            </a:pPr>
            <a:r>
              <a:rPr lang="en-US" sz="1400" u="sng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github.com/muju0629/KB_Tune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19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04 실현 가능성 · 시연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일정 하나를 넣으면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근거 · 캘린더 · 예산이 한 번에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 움직입니다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1226668" y="1778508"/>
            <a:ext cx="1839225" cy="3880614"/>
          </a:xfrm>
          <a:prstGeom prst="roundRect">
            <a:avLst>
              <a:gd name="adj" fmla="val 6960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6" name="Image 0" descr="/root/kb/r/s10-week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6960" y="1828800"/>
            <a:ext cx="1738641" cy="378003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026768" y="574243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8" name="Text 5"/>
          <p:cNvSpPr/>
          <p:nvPr/>
        </p:nvSpPr>
        <p:spPr>
          <a:xfrm>
            <a:off x="2026768" y="5742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5480" y="60167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넣기 전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47192" y="6272784"/>
            <a:ext cx="2596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이번 주 추가 사용 가능액 243,410원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3252064" y="3712464"/>
            <a:ext cx="420624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3860140" y="1778508"/>
            <a:ext cx="1839225" cy="3880614"/>
          </a:xfrm>
          <a:prstGeom prst="roundRect">
            <a:avLst>
              <a:gd name="adj" fmla="val 6960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13" name="Image 1" descr="/root/kb/r/s13-add-impac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432" y="1828800"/>
            <a:ext cx="1738641" cy="378003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660240" y="574243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5" name="Text 11"/>
          <p:cNvSpPr/>
          <p:nvPr/>
        </p:nvSpPr>
        <p:spPr>
          <a:xfrm>
            <a:off x="4660240" y="5742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498952" y="60167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근거와 영향을 먼저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3480664" y="6272784"/>
            <a:ext cx="2596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예상 50,000원 · 신뢰도 55%</a:t>
            </a:r>
            <a:endParaRPr lang="en-US" sz="900" dirty="0"/>
          </a:p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관측 범위 40,671~148,029원</a:t>
            </a:r>
            <a:endParaRPr lang="en-US" sz="900" dirty="0"/>
          </a:p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가능액 243,410 → 193,410원 · 확률 99% → 96%</a:t>
            </a:r>
            <a:endParaRPr lang="en-US" sz="900" dirty="0"/>
          </a:p>
        </p:txBody>
      </p:sp>
      <p:sp>
        <p:nvSpPr>
          <p:cNvPr id="18" name="Shape 14"/>
          <p:cNvSpPr/>
          <p:nvPr/>
        </p:nvSpPr>
        <p:spPr>
          <a:xfrm>
            <a:off x="5885536" y="3712464"/>
            <a:ext cx="420624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493612" y="1778508"/>
            <a:ext cx="1839225" cy="3880614"/>
          </a:xfrm>
          <a:prstGeom prst="roundRect">
            <a:avLst>
              <a:gd name="adj" fmla="val 6960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20" name="Image 2" descr="/root/kb/r/s14-ios-c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3904" y="1828800"/>
            <a:ext cx="1738641" cy="378003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7293712" y="574243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22" name="Text 17"/>
          <p:cNvSpPr/>
          <p:nvPr/>
        </p:nvSpPr>
        <p:spPr>
          <a:xfrm>
            <a:off x="7293712" y="5742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132424" y="60167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기기 캘린더에 실제로</a:t>
            </a:r>
            <a:endParaRPr lang="en-US" sz="1300" dirty="0"/>
          </a:p>
        </p:txBody>
      </p:sp>
      <p:sp>
        <p:nvSpPr>
          <p:cNvPr id="24" name="Text 19"/>
          <p:cNvSpPr/>
          <p:nvPr/>
        </p:nvSpPr>
        <p:spPr>
          <a:xfrm>
            <a:off x="6114136" y="6272784"/>
            <a:ext cx="2596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7월 31일 오후 7시 ‘올리브영 들리기’가</a:t>
            </a:r>
            <a:endParaRPr lang="en-US" sz="900" dirty="0"/>
          </a:p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iOS 기본 캘린더에 그대로 들어갑니다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8519008" y="3712464"/>
            <a:ext cx="420624" cy="0"/>
          </a:xfrm>
          <a:prstGeom prst="line">
            <a:avLst/>
          </a:prstGeom>
          <a:noFill/>
          <a:ln w="25400">
            <a:solidFill>
              <a:srgbClr val="E0A800"/>
            </a:solidFill>
            <a:prstDash val="solid"/>
            <a:tailEnd type="triangle"/>
          </a:ln>
        </p:spPr>
      </p:sp>
      <p:sp>
        <p:nvSpPr>
          <p:cNvPr id="26" name="Shape 21"/>
          <p:cNvSpPr/>
          <p:nvPr/>
        </p:nvSpPr>
        <p:spPr>
          <a:xfrm>
            <a:off x="9127084" y="1778508"/>
            <a:ext cx="1839225" cy="3880614"/>
          </a:xfrm>
          <a:prstGeom prst="roundRect">
            <a:avLst>
              <a:gd name="adj" fmla="val 6960"/>
            </a:avLst>
          </a:prstGeom>
          <a:solidFill>
            <a:srgbClr val="FFFFFF"/>
          </a:solidFill>
          <a:ln w="12700">
            <a:solidFill>
              <a:srgbClr val="E6E2D8"/>
            </a:solidFill>
            <a:prstDash val="solid"/>
          </a:ln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pic>
        <p:nvPicPr>
          <p:cNvPr id="27" name="Image 3" descr="/root/kb/r/s15-weekly-af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77376" y="1828800"/>
            <a:ext cx="1738641" cy="3780030"/>
          </a:xfrm>
          <a:prstGeom prst="rect">
            <a:avLst/>
          </a:prstGeom>
        </p:spPr>
      </p:pic>
      <p:sp>
        <p:nvSpPr>
          <p:cNvPr id="28" name="Shape 22"/>
          <p:cNvSpPr/>
          <p:nvPr/>
        </p:nvSpPr>
        <p:spPr>
          <a:xfrm>
            <a:off x="9927184" y="574243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29" name="Text 23"/>
          <p:cNvSpPr/>
          <p:nvPr/>
        </p:nvSpPr>
        <p:spPr>
          <a:xfrm>
            <a:off x="9927184" y="5742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4</a:t>
            </a:r>
            <a:endParaRPr lang="en-US" sz="1200" dirty="0"/>
          </a:p>
        </p:txBody>
      </p:sp>
      <p:sp>
        <p:nvSpPr>
          <p:cNvPr id="30" name="Text 24"/>
          <p:cNvSpPr/>
          <p:nvPr/>
        </p:nvSpPr>
        <p:spPr>
          <a:xfrm>
            <a:off x="8765896" y="6016752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예산이 즉시 갱신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8747608" y="6272784"/>
            <a:ext cx="2596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193,410원으로 바뀌고</a:t>
            </a:r>
            <a:endParaRPr lang="en-US" sz="900" dirty="0"/>
          </a:p>
          <a:p>
            <a:pPr algn="ctr" indent="0" marL="0">
              <a:lnSpc>
                <a:spcPct val="124000"/>
              </a:lnSpc>
              <a:buNone/>
            </a:pPr>
            <a:r>
              <a:rPr lang="en-US" sz="9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금요일 합계도 78,000원으로 재계산됩니다</a:t>
            </a:r>
            <a:endParaRPr lang="en-US" sz="900" dirty="0"/>
          </a:p>
        </p:txBody>
      </p:sp>
      <p:sp>
        <p:nvSpPr>
          <p:cNvPr id="32" name="Text 26"/>
          <p:cNvSpPr/>
          <p:nvPr/>
        </p:nvSpPr>
        <p:spPr>
          <a:xfrm>
            <a:off x="749808" y="1463040"/>
            <a:ext cx="10698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금액의 출처까지 화면에 적습니다.  </a:t>
            </a:r>
            <a:pPr algn="ctr" indent="0" marL="0"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‘화장품 평균 87,333원 · 서울열린데이터광장 상권분석 카드매출(2026-1/4)’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20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05 기대효과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고객 · KB · 사회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세 방향에서 효과가 맞물립니다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90576" y="2377440"/>
            <a:ext cx="3529584" cy="3602736"/>
          </a:xfrm>
          <a:prstGeom prst="roundRect">
            <a:avLst>
              <a:gd name="adj" fmla="val 4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178912" y="2596896"/>
            <a:ext cx="512064" cy="512064"/>
          </a:xfrm>
          <a:prstGeom prst="ellipse">
            <a:avLst/>
          </a:prstGeom>
          <a:solidFill>
            <a:srgbClr val="EEF5EC"/>
          </a:solidFill>
          <a:ln/>
        </p:spPr>
      </p:sp>
      <p:pic>
        <p:nvPicPr>
          <p:cNvPr id="7" name="Image 0" descr="/root/kb/ico/FaUser-3F8A5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6928" y="2724912"/>
            <a:ext cx="256032" cy="25603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64896" y="2615184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FFF7CF"/>
          </a:solidFill>
          <a:ln/>
        </p:spPr>
      </p:sp>
      <p:sp>
        <p:nvSpPr>
          <p:cNvPr id="9" name="Text 6"/>
          <p:cNvSpPr/>
          <p:nvPr/>
        </p:nvSpPr>
        <p:spPr>
          <a:xfrm>
            <a:off x="764896" y="261518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고객 측면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64896" y="30175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“계산을 대신해 주는 금융”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4896" y="3639312"/>
            <a:ext cx="29809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이번 주에 써도 되는 금액을 숫자 하나로 확인해 머릿속 계산과 죄책감을 덜어냅니다.</a:t>
            </a: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줄이라고 하지 않고 무엇을 미루면 되는지 제안하므로, 목표를 포기하지 않고 지킬 수 있습니다.</a:t>
            </a: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개인정보가 기기를 떠나지 않아, 가장 민감한 소비 · 일정 데이터를 안심하고 맡길 수 있습니다.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1056" y="2377440"/>
            <a:ext cx="3529584" cy="3602736"/>
          </a:xfrm>
          <a:prstGeom prst="roundRect">
            <a:avLst>
              <a:gd name="adj" fmla="val 4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019392" y="2596896"/>
            <a:ext cx="512064" cy="512064"/>
          </a:xfrm>
          <a:prstGeom prst="ellipse">
            <a:avLst/>
          </a:prstGeom>
          <a:solidFill>
            <a:srgbClr val="EEF5EC"/>
          </a:solidFill>
          <a:ln/>
        </p:spPr>
      </p:sp>
      <p:pic>
        <p:nvPicPr>
          <p:cNvPr id="14" name="Image 1" descr="/root/kb/ico/FaBuildingColumns-3F8A5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7408" y="2724912"/>
            <a:ext cx="256032" cy="256032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4605376" y="2615184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FFCC00"/>
          </a:solidFill>
          <a:ln/>
        </p:spPr>
      </p:sp>
      <p:sp>
        <p:nvSpPr>
          <p:cNvPr id="16" name="Text 12"/>
          <p:cNvSpPr/>
          <p:nvPr/>
        </p:nvSpPr>
        <p:spPr>
          <a:xfrm>
            <a:off x="4605376" y="261518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측면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4605376" y="30175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“결제 이전 단계의 접점 확보”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4605376" y="3639312"/>
            <a:ext cx="29809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결제가 끝난 뒤가 아니라 소비를 결정하는 순간에 KB가 등장합니다.</a:t>
            </a: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계획 → 근거 → 상품으로 이어지는 자연스러운 동선에서 카드 · 적금 전환이 발생합니다.</a:t>
            </a: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온디바이스 · 무상태 설계로 개인정보 리스크를 낮춘 채 AI 금융 사례를 확보합니다.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71536" y="2377440"/>
            <a:ext cx="3529584" cy="3602736"/>
          </a:xfrm>
          <a:prstGeom prst="roundRect">
            <a:avLst>
              <a:gd name="adj" fmla="val 41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10859872" y="2596896"/>
            <a:ext cx="512064" cy="512064"/>
          </a:xfrm>
          <a:prstGeom prst="ellipse">
            <a:avLst/>
          </a:prstGeom>
          <a:solidFill>
            <a:srgbClr val="EEF5EC"/>
          </a:solidFill>
          <a:ln/>
        </p:spPr>
      </p:sp>
      <p:pic>
        <p:nvPicPr>
          <p:cNvPr id="21" name="Image 2" descr="/root/kb/ico/FaSeedling-3F8A5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87888" y="2724912"/>
            <a:ext cx="256032" cy="256032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8445856" y="2615184"/>
            <a:ext cx="1133856" cy="292608"/>
          </a:xfrm>
          <a:prstGeom prst="roundRect">
            <a:avLst>
              <a:gd name="adj" fmla="val 50000"/>
            </a:avLst>
          </a:prstGeom>
          <a:solidFill>
            <a:srgbClr val="FFF7CF"/>
          </a:solidFill>
          <a:ln/>
        </p:spPr>
      </p:sp>
      <p:sp>
        <p:nvSpPr>
          <p:cNvPr id="23" name="Text 18"/>
          <p:cNvSpPr/>
          <p:nvPr/>
        </p:nvSpPr>
        <p:spPr>
          <a:xfrm>
            <a:off x="8445856" y="2615184"/>
            <a:ext cx="11338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사회적 측면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8445856" y="3017520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“설명 가능한 AI 금융의 기준”</a:t>
            </a:r>
            <a:endParaRPr lang="en-US" sz="1450" dirty="0"/>
          </a:p>
        </p:txBody>
      </p:sp>
      <p:sp>
        <p:nvSpPr>
          <p:cNvPr id="25" name="Text 20"/>
          <p:cNvSpPr/>
          <p:nvPr/>
        </p:nvSpPr>
        <p:spPr>
          <a:xfrm>
            <a:off x="8445856" y="3639312"/>
            <a:ext cx="2980944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금액을 결정론 엔진이 계산하고 AI는 문장만 쓰는 구조를 공개해, 금융 AI의 허위 수치 문제에 실무적 해법을 제시합니다.</a:t>
            </a: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endParaRPr lang="en-US" sz="1200" dirty="0"/>
          </a:p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· 사회 초년생의 저축 습관 형성을 돕는 포용적 금융 도구로 기능합니다.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21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05 사업성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‘계획을 세우는 앱’이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KB의 주거래 진입점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이 됩니다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 flipV="1">
            <a:off x="1143000" y="4498848"/>
            <a:ext cx="9966960" cy="1481328"/>
          </a:xfrm>
          <a:prstGeom prst="line">
            <a:avLst/>
          </a:prstGeom>
          <a:noFill/>
          <a:ln w="44450">
            <a:solidFill>
              <a:srgbClr val="FFCC00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380848" y="3968496"/>
            <a:ext cx="2651760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18592" y="4187952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8" name="Text 6"/>
          <p:cNvSpPr/>
          <p:nvPr/>
        </p:nvSpPr>
        <p:spPr>
          <a:xfrm>
            <a:off x="618592" y="418795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47776" y="415137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소비 계획 진입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8592" y="4535424"/>
            <a:ext cx="21762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가계부보다 진입 장벽이 낮습니다. 캘린더 연동과 세 가지 질문만으로 시작하고, 상품 가입을 요구하지 않습니다.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06928" y="3493008"/>
            <a:ext cx="2651760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44672" y="3712464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3" name="Text 11"/>
          <p:cNvSpPr/>
          <p:nvPr/>
        </p:nvSpPr>
        <p:spPr>
          <a:xfrm>
            <a:off x="3544672" y="3712464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873856" y="367588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교차 판매 전환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44672" y="4059936"/>
            <a:ext cx="21762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계획을 세운 뒤 순혜택이 계산된 상태에서 카드 · 적금을 제시하므로, 광고가 아니라 결론으로 읽힙니다.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33008" y="3017520"/>
            <a:ext cx="2651760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0752" y="3236976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70752" y="32369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799936" y="320040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데이터 자산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70752" y="3584448"/>
            <a:ext cx="21762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일정 단위 소비 이력과 예측 오차가 쌓입니다. 개인정보 원본이 아닌 집계값이라 활용 부담이 낮습니다.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159088" y="2542032"/>
            <a:ext cx="2651760" cy="1572768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396832" y="2761488"/>
            <a:ext cx="237744" cy="237744"/>
          </a:xfrm>
          <a:prstGeom prst="roundRect">
            <a:avLst>
              <a:gd name="adj" fmla="val 23077"/>
            </a:avLst>
          </a:prstGeom>
          <a:solidFill>
            <a:srgbClr val="FFCC00"/>
          </a:solidFill>
          <a:ln/>
        </p:spPr>
      </p:sp>
      <p:sp>
        <p:nvSpPr>
          <p:cNvPr id="23" name="Text 21"/>
          <p:cNvSpPr/>
          <p:nvPr/>
        </p:nvSpPr>
        <p:spPr>
          <a:xfrm>
            <a:off x="9396832" y="276148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726016" y="272491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주거래 고착화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396832" y="3108960"/>
            <a:ext cx="217627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매주 열어야 할 이유가 있는 앱이 되면, 급여 이체 · 주택청약 · 대출로 이어지는 장기 접점이 확보됩니다.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49808" y="632764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쓰고 난 뒤의 기록이 아니라, 쓰기 전의 결정</a:t>
            </a:r>
            <a:pPr algn="ctr" indent="0" marL="0">
              <a:buNone/>
            </a:pPr>
            <a:r>
              <a:rPr lang="en-US" sz="14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 — KB Tune이 노리는 자리는 결제 이전 단계입니다.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05 서비스 확장성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개인의 캘린더에서 시작해,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금융 플랫폼 전체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로 확장됩니다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490576" y="1920240"/>
            <a:ext cx="3529584" cy="512064"/>
          </a:xfrm>
          <a:prstGeom prst="chevron">
            <a:avLst/>
          </a:prstGeom>
          <a:solidFill>
            <a:srgbClr val="FFCC00"/>
          </a:solidFill>
          <a:ln/>
        </p:spPr>
      </p:sp>
      <p:sp>
        <p:nvSpPr>
          <p:cNvPr id="6" name="Text 4"/>
          <p:cNvSpPr/>
          <p:nvPr/>
        </p:nvSpPr>
        <p:spPr>
          <a:xfrm>
            <a:off x="673456" y="1920240"/>
            <a:ext cx="3255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NOW   </a:t>
            </a:r>
            <a:pPr algn="ctr" indent="0" marL="0">
              <a:buNone/>
            </a:pPr>
            <a:r>
              <a:rPr lang="en-US" sz="1300" dirty="0">
                <a:solidFill>
                  <a:srgbClr val="6B54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오늘 시연하는 것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90576" y="2596896"/>
            <a:ext cx="3529584" cy="3127248"/>
          </a:xfrm>
          <a:prstGeom prst="roundRect">
            <a:avLst>
              <a:gd name="adj" fmla="val 46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46608" y="2889504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9" name="Text 7"/>
          <p:cNvSpPr/>
          <p:nvPr/>
        </p:nvSpPr>
        <p:spPr>
          <a:xfrm>
            <a:off x="947776" y="281635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캘린더 기반 주간 소비 계획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46608" y="3456432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11" name="Text 9"/>
          <p:cNvSpPr/>
          <p:nvPr/>
        </p:nvSpPr>
        <p:spPr>
          <a:xfrm>
            <a:off x="947776" y="338328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실행형 대화 · 숫자 접지 검증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46608" y="4023360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13" name="Text 11"/>
          <p:cNvSpPr/>
          <p:nvPr/>
        </p:nvSpPr>
        <p:spPr>
          <a:xfrm>
            <a:off x="947776" y="395020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온디바이스 개인정보 설계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46608" y="4590288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15" name="Text 13"/>
          <p:cNvSpPr/>
          <p:nvPr/>
        </p:nvSpPr>
        <p:spPr>
          <a:xfrm>
            <a:off x="947776" y="45171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KB 카드 · 적금 순혜택 추천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6608" y="53218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구현 완료 — pytest 57 · iOS 61 통과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31056" y="1920240"/>
            <a:ext cx="3529584" cy="512064"/>
          </a:xfrm>
          <a:prstGeom prst="chevron">
            <a:avLst/>
          </a:prstGeom>
          <a:solidFill>
            <a:srgbClr val="FFE066"/>
          </a:solidFill>
          <a:ln/>
        </p:spPr>
      </p:sp>
      <p:sp>
        <p:nvSpPr>
          <p:cNvPr id="18" name="Text 16"/>
          <p:cNvSpPr/>
          <p:nvPr/>
        </p:nvSpPr>
        <p:spPr>
          <a:xfrm>
            <a:off x="4513936" y="1920240"/>
            <a:ext cx="3255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+6개월   </a:t>
            </a:r>
            <a:pPr algn="ctr" indent="0" marL="0">
              <a:buNone/>
            </a:pPr>
            <a:r>
              <a:rPr lang="en-US" sz="1300" dirty="0">
                <a:solidFill>
                  <a:srgbClr val="6B54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안으로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31056" y="2596896"/>
            <a:ext cx="3529584" cy="3127248"/>
          </a:xfrm>
          <a:prstGeom prst="roundRect">
            <a:avLst>
              <a:gd name="adj" fmla="val 46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587088" y="2889504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21" name="Text 19"/>
          <p:cNvSpPr/>
          <p:nvPr/>
        </p:nvSpPr>
        <p:spPr>
          <a:xfrm>
            <a:off x="4788256" y="281635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KB Pay 실데이터 연동 (마이데이터)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87088" y="3456432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23" name="Text 21"/>
          <p:cNvSpPr/>
          <p:nvPr/>
        </p:nvSpPr>
        <p:spPr>
          <a:xfrm>
            <a:off x="4788256" y="338328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KB스타뱅킹 위젯 · 알림 연동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87088" y="4023360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25" name="Text 23"/>
          <p:cNvSpPr/>
          <p:nvPr/>
        </p:nvSpPr>
        <p:spPr>
          <a:xfrm>
            <a:off x="4788256" y="395020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가족 · 커플 공유 예산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4587088" y="4590288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27" name="Text 25"/>
          <p:cNvSpPr/>
          <p:nvPr/>
        </p:nvSpPr>
        <p:spPr>
          <a:xfrm>
            <a:off x="4788256" y="45171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20명 파일럿 · 예측 오차 공개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587088" y="53218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Pay 샌드박스 → 운영 전환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8171536" y="1920240"/>
            <a:ext cx="3529584" cy="512064"/>
          </a:xfrm>
          <a:prstGeom prst="chevron">
            <a:avLst/>
          </a:prstGeom>
          <a:solidFill>
            <a:srgbClr val="FFD91F"/>
          </a:solidFill>
          <a:ln/>
        </p:spPr>
      </p:sp>
      <p:sp>
        <p:nvSpPr>
          <p:cNvPr id="30" name="Text 28"/>
          <p:cNvSpPr/>
          <p:nvPr/>
        </p:nvSpPr>
        <p:spPr>
          <a:xfrm>
            <a:off x="8354416" y="1920240"/>
            <a:ext cx="32552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+1년   </a:t>
            </a:r>
            <a:pPr algn="ctr" indent="0" marL="0">
              <a:buNone/>
            </a:pPr>
            <a:r>
              <a:rPr lang="en-US" sz="1300" dirty="0">
                <a:solidFill>
                  <a:srgbClr val="6B54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전체로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8171536" y="2596896"/>
            <a:ext cx="3529584" cy="3127248"/>
          </a:xfrm>
          <a:prstGeom prst="roundRect">
            <a:avLst>
              <a:gd name="adj" fmla="val 46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427568" y="2889504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33" name="Text 31"/>
          <p:cNvSpPr/>
          <p:nvPr/>
        </p:nvSpPr>
        <p:spPr>
          <a:xfrm>
            <a:off x="8628736" y="2816352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KB 자체 sLLM 교체 — 데이터 외부 반출 제로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427568" y="3456432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35" name="Text 33"/>
          <p:cNvSpPr/>
          <p:nvPr/>
        </p:nvSpPr>
        <p:spPr>
          <a:xfrm>
            <a:off x="8628736" y="3383280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청약 · 대출 · 연금까지 생애 이벤트 계획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8427568" y="4023360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37" name="Text 35"/>
          <p:cNvSpPr/>
          <p:nvPr/>
        </p:nvSpPr>
        <p:spPr>
          <a:xfrm>
            <a:off x="8628736" y="3950208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‘KB Star 별이’와 연결 — 상담과 실행의 분업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8427568" y="4590288"/>
            <a:ext cx="82296" cy="82296"/>
          </a:xfrm>
          <a:prstGeom prst="ellipse">
            <a:avLst/>
          </a:prstGeom>
          <a:solidFill>
            <a:srgbClr val="E0A800"/>
          </a:solidFill>
          <a:ln/>
        </p:spPr>
      </p:sp>
      <p:sp>
        <p:nvSpPr>
          <p:cNvPr id="39" name="Text 37"/>
          <p:cNvSpPr/>
          <p:nvPr/>
        </p:nvSpPr>
        <p:spPr>
          <a:xfrm>
            <a:off x="8628736" y="4517136"/>
            <a:ext cx="2834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소상공인 매출 · 지출 계획 버전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8427568" y="5321808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같은 엔진 · 같은 개인정보 원칙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49808" y="5998464"/>
            <a:ext cx="10698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LLM 계층이 교체형이라, </a:t>
            </a:r>
            <a:pPr algn="ctr" indent="0" marL="0">
              <a:buNone/>
            </a:pPr>
            <a:r>
              <a:rPr lang="en-US" sz="14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자체 모델이 준비되는 날 바로 갈아 끼울 수 있습니다</a:t>
            </a:r>
            <a:pPr algn="ctr" indent="0" marL="0">
              <a:buNone/>
            </a:pPr>
            <a:r>
              <a:rPr lang="en-US" sz="1400" dirty="0">
                <a:solidFill>
                  <a:srgbClr val="25241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B5B0A4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23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0" y="420624"/>
            <a:ext cx="121916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spc="40" kern="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05 다음 과제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731520" y="786384"/>
            <a:ext cx="10728655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다음 3개월, </a:t>
            </a:r>
            <a:pPr algn="ctr" indent="0" marL="0">
              <a:lnSpc>
                <a:spcPct val="132000"/>
              </a:lnSpc>
              <a:buNone/>
            </a:pPr>
            <a:r>
              <a:rPr lang="en-US" sz="2500" dirty="0">
                <a:solidFill>
                  <a:srgbClr val="25241F"/>
                </a:solidFill>
                <a:highlight>
                  <a:srgbClr val="FFF7CF"/>
                </a:highlight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무엇으로 증명할지까지 정해 두었습니다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80848" y="2377440"/>
            <a:ext cx="2651760" cy="3072384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18592" y="2615184"/>
            <a:ext cx="2176272" cy="475488"/>
          </a:xfrm>
          <a:prstGeom prst="roundRect">
            <a:avLst>
              <a:gd name="adj" fmla="val 25000"/>
            </a:avLst>
          </a:prstGeom>
          <a:solidFill>
            <a:srgbClr val="FFCC00"/>
          </a:solidFill>
          <a:ln/>
        </p:spPr>
      </p:sp>
      <p:sp>
        <p:nvSpPr>
          <p:cNvPr id="7" name="Text 5"/>
          <p:cNvSpPr/>
          <p:nvPr/>
        </p:nvSpPr>
        <p:spPr>
          <a:xfrm>
            <a:off x="783184" y="2615184"/>
            <a:ext cx="1847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54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STEP 1   </a:t>
            </a:r>
            <a:pPr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제출 전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18592" y="3291840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개인정보 카나리 · 숫자 접지 · 핵심 데모 회귀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18592" y="409651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완료 기준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8592" y="4352544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핵심 자동 테스트와 스크린샷 증빙을 고정한다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06928" y="2377440"/>
            <a:ext cx="2651760" cy="3072384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544672" y="2615184"/>
            <a:ext cx="2176272" cy="475488"/>
          </a:xfrm>
          <a:prstGeom prst="roundRect">
            <a:avLst>
              <a:gd name="adj" fmla="val 25000"/>
            </a:avLst>
          </a:prstGeom>
          <a:solidFill>
            <a:srgbClr val="FFF7CF"/>
          </a:solidFill>
          <a:ln/>
        </p:spPr>
      </p:sp>
      <p:sp>
        <p:nvSpPr>
          <p:cNvPr id="13" name="Text 11"/>
          <p:cNvSpPr/>
          <p:nvPr/>
        </p:nvSpPr>
        <p:spPr>
          <a:xfrm>
            <a:off x="3709264" y="2615184"/>
            <a:ext cx="1847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STEP 2   </a:t>
            </a:r>
            <a:pPr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1개월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44672" y="3291840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시간 순 홀드아웃 예측 평가 · 카테고리별 오차 보정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44672" y="409651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완료 기준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44672" y="4352544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MAE / MAPE를 공개하고 단순 평균 기준선보다 개선한다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3008" y="2377440"/>
            <a:ext cx="2651760" cy="3072384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70752" y="2615184"/>
            <a:ext cx="2176272" cy="475488"/>
          </a:xfrm>
          <a:prstGeom prst="roundRect">
            <a:avLst>
              <a:gd name="adj" fmla="val 25000"/>
            </a:avLst>
          </a:prstGeom>
          <a:solidFill>
            <a:srgbClr val="FFF7CF"/>
          </a:solidFill>
          <a:ln/>
        </p:spPr>
      </p:sp>
      <p:sp>
        <p:nvSpPr>
          <p:cNvPr id="19" name="Text 17"/>
          <p:cNvSpPr/>
          <p:nvPr/>
        </p:nvSpPr>
        <p:spPr>
          <a:xfrm>
            <a:off x="6635344" y="2615184"/>
            <a:ext cx="1847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STEP 3   </a:t>
            </a:r>
            <a:pPr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2개월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70752" y="3291840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Pay 샌드박스 연동 · 토큰 기반 사용자 인증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0752" y="409651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완료 기준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470752" y="4352544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원본 미저장 · 동의 철회 즉시 반영 · 위협모델 리뷰 통과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59088" y="2377440"/>
            <a:ext cx="2651760" cy="3072384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77800" dist="38100" dir="5400000">
              <a:srgbClr val="2A2822">
                <a:alpha val="10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96832" y="2615184"/>
            <a:ext cx="2176272" cy="475488"/>
          </a:xfrm>
          <a:prstGeom prst="roundRect">
            <a:avLst>
              <a:gd name="adj" fmla="val 25000"/>
            </a:avLst>
          </a:prstGeom>
          <a:solidFill>
            <a:srgbClr val="FFF7CF"/>
          </a:solidFill>
          <a:ln/>
        </p:spPr>
      </p:sp>
      <p:sp>
        <p:nvSpPr>
          <p:cNvPr id="25" name="Text 23"/>
          <p:cNvSpPr/>
          <p:nvPr/>
        </p:nvSpPr>
        <p:spPr>
          <a:xfrm>
            <a:off x="9561424" y="2615184"/>
            <a:ext cx="18470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A8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STEP 4   </a:t>
            </a:r>
            <a:pPr indent="0" marL="0">
              <a:buNone/>
            </a:pPr>
            <a:r>
              <a:rPr lang="en-US" sz="145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3개월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396832" y="3291840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25241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20명 파일럿 · 일정–거래 매칭 고도화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96832" y="409651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F8A55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완료 기준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9396832" y="4352544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20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일정 추가 성공률 · 예산 이해도 · 예측 오차를 측정한다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49808" y="5724144"/>
            <a:ext cx="10698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45423B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각 단계의 완료 기준은 “구현했다”가 아니라 “무엇으로 확인했다”로 적었습니다.</a:t>
            </a:r>
            <a:endParaRPr lang="en-US" sz="11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52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510528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594E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24</a:t>
            </a:r>
            <a:endParaRPr lang="en-US" sz="800" dirty="0"/>
          </a:p>
        </p:txBody>
      </p:sp>
      <p:sp>
        <p:nvSpPr>
          <p:cNvPr id="3" name="Shape 1"/>
          <p:cNvSpPr/>
          <p:nvPr/>
        </p:nvSpPr>
        <p:spPr>
          <a:xfrm>
            <a:off x="8412480" y="-1463040"/>
            <a:ext cx="6035040" cy="6035040"/>
          </a:xfrm>
          <a:prstGeom prst="ellipse">
            <a:avLst/>
          </a:prstGeom>
          <a:solidFill>
            <a:srgbClr val="FFCC00">
              <a:alpha val="6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-2011680" y="3657600"/>
            <a:ext cx="5303520" cy="5303520"/>
          </a:xfrm>
          <a:prstGeom prst="ellipse">
            <a:avLst/>
          </a:prstGeom>
          <a:solidFill>
            <a:srgbClr val="FFCC00">
              <a:alpha val="5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0" y="2084832"/>
            <a:ext cx="121916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800" dirty="0">
                <a:solidFill>
                  <a:srgbClr val="9C978C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가계부는 이미 쓴 돈만 보여줍니다</a:t>
            </a:r>
            <a:endParaRPr lang="en-US" sz="18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700" dirty="0">
                <a:solidFill>
                  <a:srgbClr val="FFFFFF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Tune은 앞으로 쓸 돈을 미리 알려드립니다</a:t>
            </a:r>
            <a:endParaRPr lang="en-US" sz="1800" dirty="0"/>
          </a:p>
        </p:txBody>
      </p:sp>
      <p:pic>
        <p:nvPicPr>
          <p:cNvPr id="6" name="Image 0" descr="/root/kb/assets/mascot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2896" y="3712464"/>
            <a:ext cx="813816" cy="7863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769864" y="3712464"/>
            <a:ext cx="2743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spc="-50" kern="0" dirty="0">
                <a:solidFill>
                  <a:srgbClr val="FFCC00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</a:rPr>
              <a:t>KB Tune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0" y="4882896"/>
            <a:ext cx="12191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C887F"/>
                </a:solidFill>
                <a:latin typeface="KBFG Text Light" pitchFamily="34" charset="0"/>
                <a:ea typeface="KBFG Text Light" pitchFamily="34" charset="-122"/>
                <a:cs typeface="KBFG Text Light" pitchFamily="34" charset="-120"/>
              </a:rPr>
              <a:t>KB AI Challenge 2026  ·  Team KB Tune</a:t>
            </a:r>
            <a:endParaRPr lang="en-US" sz="1300" dirty="0"/>
          </a:p>
        </p:txBody>
      </p:sp>
      <p:pic>
        <p:nvPicPr>
          <p:cNvPr id="9" name="Image 1" descr="/root/kb/ico/SiGithub-E8E4D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944" y="5321808"/>
            <a:ext cx="237744" cy="237744"/>
          </a:xfrm>
          <a:prstGeom prst="rect">
            <a:avLst/>
          </a:prstGeom>
        </p:spPr>
      </p:pic>
      <p:sp>
        <p:nvSpPr>
          <p:cNvPr id="10" name="Text 6">
            <a:hlinkClick r:id="rId3" tooltip=""/>
          </p:cNvPr>
          <p:cNvSpPr/>
          <p:nvPr/>
        </p:nvSpPr>
        <p:spPr>
          <a:xfrm>
            <a:off x="4907128" y="5294376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C9C4B8"/>
                </a:solidFill>
                <a:latin typeface="KBFG Text Medium" pitchFamily="34" charset="0"/>
                <a:ea typeface="KBFG Text Medium" pitchFamily="34" charset="-122"/>
                <a:cs typeface="KBFG Text Medium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github.com/muju0629/KB_Tune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KB Tune — KB AI Challenge 2026</dc:title>
  <dc:subject>PptxGenJS Presentation</dc:subject>
  <dc:creator>KB Tune</dc:creator>
  <cp:lastModifiedBy>KB Tune</cp:lastModifiedBy>
  <cp:revision>1</cp:revision>
  <dcterms:created xsi:type="dcterms:W3CDTF">2026-07-29T13:28:30Z</dcterms:created>
  <dcterms:modified xsi:type="dcterms:W3CDTF">2026-07-29T13:28:30Z</dcterms:modified>
</cp:coreProperties>
</file>